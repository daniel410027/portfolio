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CItIOGg5GaoDVT21qe5MAkdxe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89fc55ee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g3889fc55ee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d00a36804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7" name="Google Shape;107;g37d00a36804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d00a36804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4" name="Google Shape;114;g37d00a36804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d00a36804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1" name="Google Shape;121;g37d00a36804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d6acfa45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7d6acfa456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89fc55eef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89fc55eef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89fc55eef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89fc55eef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838200" y="209006"/>
            <a:ext cx="10515600" cy="101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  <a:defRPr b="1" sz="3200">
                <a:solidFill>
                  <a:srgbClr val="2E75B5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1445624"/>
            <a:ext cx="10515600" cy="5225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2260600" y="2742838"/>
            <a:ext cx="7772400" cy="17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報</a:t>
            </a: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名序號：114080 </a:t>
            </a:r>
            <a:b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b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br>
              <a:rPr lang="zh-TW" sz="24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團隊名稱： _權志龍給我門票_</a:t>
            </a:r>
            <a:r>
              <a:rPr b="1" lang="zh-TW" sz="3200"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  </a:t>
            </a:r>
            <a:r>
              <a:rPr b="1" lang="zh-TW" sz="3200" u="sng">
                <a:latin typeface="Microsoft JhengHei"/>
                <a:ea typeface="Microsoft JhengHei"/>
                <a:cs typeface="Microsoft JhengHei"/>
                <a:sym typeface="Microsoft JhengHei"/>
              </a:rPr>
              <a:t>    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293411" y="4692961"/>
            <a:ext cx="770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576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65320" y="1017740"/>
            <a:ext cx="3363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200" u="sng">
                <a:solidFill>
                  <a:srgbClr val="2E75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團隊程式說明</a:t>
            </a:r>
            <a:endParaRPr/>
          </a:p>
        </p:txBody>
      </p:sp>
      <p:sp>
        <p:nvSpPr>
          <p:cNvPr id="88" name="Google Shape;8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209006"/>
            <a:ext cx="10515600" cy="101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b="1" lang="zh-TW" sz="3200">
                <a:solidFill>
                  <a:srgbClr val="2E75B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一、</a:t>
            </a:r>
            <a:r>
              <a:rPr lang="zh-TW">
                <a:solidFill>
                  <a:srgbClr val="2E75B5"/>
                </a:solidFill>
              </a:rPr>
              <a:t>程式執行的安裝環境說明</a:t>
            </a:r>
            <a:endParaRPr sz="3200">
              <a:solidFill>
                <a:srgbClr val="2E75B5"/>
              </a:solidFill>
            </a:endParaRPr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115675"/>
            <a:ext cx="5150100" cy="5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•"/>
            </a:pPr>
            <a:r>
              <a:rPr lang="zh-TW" sz="2700"/>
              <a:t>作業系統：Windows 11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•"/>
            </a:pPr>
            <a:r>
              <a:rPr lang="zh-TW" sz="2700"/>
              <a:t>程式語言：python 3.13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•"/>
            </a:pPr>
            <a:r>
              <a:rPr lang="zh-TW" sz="2700"/>
              <a:t>工具軟體：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Times New Roman"/>
              <a:buChar char="‐"/>
            </a:pPr>
            <a:r>
              <a:rPr lang="zh-TW" sz="2700"/>
              <a:t>joblib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Times New Roman"/>
              <a:buChar char="‐"/>
            </a:pPr>
            <a:r>
              <a:rPr lang="zh-TW" sz="2700"/>
              <a:t>lightgbm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Times New Roman"/>
              <a:buChar char="‐"/>
            </a:pPr>
            <a:r>
              <a:rPr lang="zh-TW" sz="2700"/>
              <a:t>matplotlib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Times New Roman"/>
              <a:buChar char="‐"/>
            </a:pPr>
            <a:r>
              <a:rPr lang="zh-TW" sz="2700"/>
              <a:t>numpy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Times New Roman"/>
              <a:buChar char="‐"/>
            </a:pPr>
            <a:r>
              <a:rPr lang="zh-TW" sz="2700"/>
              <a:t>pandas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6" name="Google Shape;96;p2"/>
          <p:cNvSpPr txBox="1"/>
          <p:nvPr>
            <p:ph idx="4294967295" type="sldNum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071659" y="2755000"/>
            <a:ext cx="3000000" cy="16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7650" lvl="1" marL="6858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‐"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sklearn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‐"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Char char="‐"/>
            </a:pPr>
            <a:r>
              <a:rPr lang="zh-TW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Optuna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89fc55eef_0_2"/>
          <p:cNvSpPr txBox="1"/>
          <p:nvPr>
            <p:ph type="title"/>
          </p:nvPr>
        </p:nvSpPr>
        <p:spPr>
          <a:xfrm>
            <a:off x="725700" y="86531"/>
            <a:ext cx="105156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lang="zh-TW"/>
              <a:t>二、程式執行步驟說明</a:t>
            </a:r>
            <a:endParaRPr/>
          </a:p>
        </p:txBody>
      </p:sp>
      <p:sp>
        <p:nvSpPr>
          <p:cNvPr id="103" name="Google Shape;103;g3889fc55eef_0_2"/>
          <p:cNvSpPr txBox="1"/>
          <p:nvPr/>
        </p:nvSpPr>
        <p:spPr>
          <a:xfrm>
            <a:off x="725700" y="720200"/>
            <a:ext cx="11127300" cy="5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目的：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將「環境設定總表」的文字欄位數值化，並把每一日（每個 CSV）對應的控制特徵廣播到所有逐時觀測列，輸出 output/combined_data_temp_number.csv。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執行順序：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transform_summary.py → 產生 output/processed_data_temp_number.csv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combined.py → 產生 output/combined_data_temp_number.csv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說明：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transform_summary.py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讀取總表。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解析「溫度」：X→Y 取 (X+Y)/2；純數字直接取值；其餘記 0。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其它文字欄位 factorize（輸出對照 output/label_mapping.json）；缺值補 0。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產出：output/processed_data_temp_number.csv。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combined.py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讀入上一步檔案。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依</a:t>
            </a:r>
            <a:r>
              <a:rPr b="1"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檔名排序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讀 train/ 43 份 CSV 以及 test/ 13份 CSV，將該日控制特徵</a:t>
            </a:r>
            <a:r>
              <a:rPr b="1"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廣播到該檔所有列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後縱向合併。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產出：</a:t>
            </a:r>
            <a:r>
              <a:rPr b="1" lang="zh-TW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output/data_train.csv 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以及 </a:t>
            </a:r>
            <a:r>
              <a:rPr b="1" lang="zh-TW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output/data_test.csv</a:t>
            </a:r>
            <a:r>
              <a:rPr lang="zh-TW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。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889fc55eef_0_2"/>
          <p:cNvSpPr txBox="1"/>
          <p:nvPr/>
        </p:nvSpPr>
        <p:spPr>
          <a:xfrm>
            <a:off x="5751293" y="366392"/>
            <a:ext cx="571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*以下檔案在 114080_Source/database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d00a36804_0_14"/>
          <p:cNvSpPr txBox="1"/>
          <p:nvPr>
            <p:ph type="title"/>
          </p:nvPr>
        </p:nvSpPr>
        <p:spPr>
          <a:xfrm>
            <a:off x="838200" y="209006"/>
            <a:ext cx="105156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lang="zh-TW"/>
              <a:t>二、程式執行步驟說明</a:t>
            </a:r>
            <a:r>
              <a:rPr lang="zh-TW"/>
              <a:t> (訓練資料格式整理)</a:t>
            </a:r>
            <a:endParaRPr/>
          </a:p>
        </p:txBody>
      </p:sp>
      <p:sp>
        <p:nvSpPr>
          <p:cNvPr id="110" name="Google Shape;110;g37d00a36804_0_14"/>
          <p:cNvSpPr txBox="1"/>
          <p:nvPr>
            <p:ph idx="1" type="body"/>
          </p:nvPr>
        </p:nvSpPr>
        <p:spPr>
          <a:xfrm>
            <a:off x="838200" y="1227800"/>
            <a:ext cx="10515600" cy="53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下載 </a:t>
            </a:r>
            <a:r>
              <a:rPr lang="zh-TW" sz="2700"/>
              <a:t>database/output/data_train.csv</a:t>
            </a:r>
            <a:r>
              <a:rPr lang="zh-TW" sz="2700"/>
              <a:t> 改檔名成 data.csv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修改每筆變溫資料的環境溫度：跑 process_temperature.py，產生 final_data.csv 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確認每筆轉速/進給的值：跑 edit_setting.py，產生 final_data_2.csv 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手動除錯：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將</a:t>
            </a:r>
            <a:r>
              <a:rPr lang="zh-TW" sz="2700"/>
              <a:t> </a:t>
            </a:r>
            <a:r>
              <a:rPr lang="zh-TW" sz="2700"/>
              <a:t>20201016</a:t>
            </a:r>
            <a:r>
              <a:rPr lang="zh-TW" sz="2700"/>
              <a:t> </a:t>
            </a:r>
            <a:r>
              <a:rPr lang="zh-TW" sz="2700"/>
              <a:t>溫度</a:t>
            </a:r>
            <a:r>
              <a:rPr lang="zh-TW" sz="2700"/>
              <a:t>回</a:t>
            </a:r>
            <a:r>
              <a:rPr lang="zh-TW" sz="2700"/>
              <a:t>到30後的資料溫度都設成30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將</a:t>
            </a:r>
            <a:r>
              <a:rPr lang="zh-TW" sz="2700"/>
              <a:t> </a:t>
            </a:r>
            <a:r>
              <a:rPr lang="zh-TW" sz="2700"/>
              <a:t>20200805, 0828, 0901, 0902 的溫度修正為35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刪除沒有環境設定的多餘資料：跑 delete_data.py，產生 final_data_3.csv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欄位轉英文+控溫模式獨熱編碼：跑</a:t>
            </a:r>
            <a:r>
              <a:rPr lang="zh-TW" sz="2700"/>
              <a:t> </a:t>
            </a:r>
            <a:r>
              <a:rPr lang="zh-TW" sz="2700"/>
              <a:t>process_data.py，產生</a:t>
            </a:r>
            <a:r>
              <a:rPr b="1" lang="zh-TW" sz="2700">
                <a:solidFill>
                  <a:schemeClr val="accent2"/>
                </a:solidFill>
              </a:rPr>
              <a:t>final_data_3_processed.csv</a:t>
            </a:r>
            <a:endParaRPr b="1" sz="2700">
              <a:solidFill>
                <a:schemeClr val="accent2"/>
              </a:solidFill>
            </a:endParaRPr>
          </a:p>
        </p:txBody>
      </p:sp>
      <p:sp>
        <p:nvSpPr>
          <p:cNvPr id="111" name="Google Shape;111;g37d00a36804_0_14"/>
          <p:cNvSpPr txBox="1"/>
          <p:nvPr/>
        </p:nvSpPr>
        <p:spPr>
          <a:xfrm>
            <a:off x="8693061" y="523220"/>
            <a:ext cx="571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*以下檔案在 114080_Source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d00a36804_0_66"/>
          <p:cNvSpPr txBox="1"/>
          <p:nvPr>
            <p:ph type="title"/>
          </p:nvPr>
        </p:nvSpPr>
        <p:spPr>
          <a:xfrm>
            <a:off x="838200" y="209006"/>
            <a:ext cx="105156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lang="zh-TW"/>
              <a:t>二、程式執行步驟說明 (</a:t>
            </a:r>
            <a:r>
              <a:rPr lang="zh-TW"/>
              <a:t>測試</a:t>
            </a:r>
            <a:r>
              <a:rPr lang="zh-TW"/>
              <a:t>資料格式整理)</a:t>
            </a:r>
            <a:endParaRPr/>
          </a:p>
        </p:txBody>
      </p:sp>
      <p:sp>
        <p:nvSpPr>
          <p:cNvPr id="117" name="Google Shape;117;g37d00a36804_0_66"/>
          <p:cNvSpPr txBox="1"/>
          <p:nvPr>
            <p:ph idx="1" type="body"/>
          </p:nvPr>
        </p:nvSpPr>
        <p:spPr>
          <a:xfrm>
            <a:off x="875250" y="1289252"/>
            <a:ext cx="10441500" cy="52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下載</a:t>
            </a:r>
            <a:r>
              <a:rPr lang="zh-TW" sz="2700"/>
              <a:t> database/output/</a:t>
            </a:r>
            <a:r>
              <a:rPr lang="zh-TW" sz="2700"/>
              <a:t>data_test.csv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修改每筆變溫資料的環境溫度：跑 process_temperature.py，產生 </a:t>
            </a:r>
            <a:r>
              <a:rPr lang="zh-TW" sz="2700"/>
              <a:t>final_data_test.csv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確認每筆轉速/進給的值：跑 edit_setting.py，產生</a:t>
            </a:r>
            <a:r>
              <a:rPr lang="zh-TW" sz="2700"/>
              <a:t> final_data_test_2.csv</a:t>
            </a:r>
            <a:r>
              <a:rPr lang="zh-TW" sz="2700"/>
              <a:t> 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手動除錯：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將 </a:t>
            </a:r>
            <a:r>
              <a:rPr lang="zh-TW" sz="2700"/>
              <a:t>20201007</a:t>
            </a:r>
            <a:r>
              <a:rPr lang="zh-TW" sz="2700"/>
              <a:t> 溫度</a:t>
            </a:r>
            <a:r>
              <a:rPr lang="zh-TW" sz="2700"/>
              <a:t>回</a:t>
            </a:r>
            <a:r>
              <a:rPr lang="zh-TW" sz="2700"/>
              <a:t>到</a:t>
            </a:r>
            <a:r>
              <a:rPr lang="zh-TW" sz="2700"/>
              <a:t>15</a:t>
            </a:r>
            <a:r>
              <a:rPr lang="zh-TW" sz="2700"/>
              <a:t>後的資料溫度都設成15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將 20201008 溫度回到25後的資料溫度都設成25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將 20201015 溫度回到20後的資料溫度都設成20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欄位轉英文+控溫模式獨熱編碼：跑 process_data.py，產生</a:t>
            </a:r>
            <a:r>
              <a:rPr b="1" lang="zh-TW" sz="2700">
                <a:solidFill>
                  <a:schemeClr val="accent2"/>
                </a:solidFill>
              </a:rPr>
              <a:t>final_data_test_2_processed.csv</a:t>
            </a:r>
            <a:endParaRPr b="1" sz="2700">
              <a:solidFill>
                <a:schemeClr val="accent2"/>
              </a:solidFill>
            </a:endParaRPr>
          </a:p>
        </p:txBody>
      </p:sp>
      <p:sp>
        <p:nvSpPr>
          <p:cNvPr id="118" name="Google Shape;118;g37d00a36804_0_66"/>
          <p:cNvSpPr txBox="1"/>
          <p:nvPr/>
        </p:nvSpPr>
        <p:spPr>
          <a:xfrm>
            <a:off x="8693061" y="523220"/>
            <a:ext cx="571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*以下檔案在 114080_Source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d00a36804_0_31"/>
          <p:cNvSpPr txBox="1"/>
          <p:nvPr>
            <p:ph type="title"/>
          </p:nvPr>
        </p:nvSpPr>
        <p:spPr>
          <a:xfrm>
            <a:off x="838200" y="209006"/>
            <a:ext cx="105156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lang="zh-TW"/>
              <a:t>二、程式執行步驟說明 (</a:t>
            </a:r>
            <a:r>
              <a:rPr lang="zh-TW"/>
              <a:t>特徵選取</a:t>
            </a:r>
            <a:r>
              <a:rPr lang="zh-TW"/>
              <a:t>)</a:t>
            </a:r>
            <a:endParaRPr/>
          </a:p>
        </p:txBody>
      </p:sp>
      <p:sp>
        <p:nvSpPr>
          <p:cNvPr id="124" name="Google Shape;124;g37d00a36804_0_31"/>
          <p:cNvSpPr txBox="1"/>
          <p:nvPr>
            <p:ph idx="1" type="body"/>
          </p:nvPr>
        </p:nvSpPr>
        <p:spPr>
          <a:xfrm>
            <a:off x="838200" y="1227800"/>
            <a:ext cx="10515600" cy="5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/>
              <a:t>訓練資料</a:t>
            </a:r>
            <a:endParaRPr b="1" sz="2700"/>
          </a:p>
          <a:p>
            <a:pPr indent="-222250" lvl="0" marL="2286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建立新特徵：跑 build_feature.py，產生 all_feature.csv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特徵選取：跑 select_feature_2.py，產生 feature_selection_output_2 資料夾，包含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feature_selection_figures_2 資料夾 特徵重要性排序圖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feature_selection_summary_2.md 選取流程說明文件</a:t>
            </a:r>
            <a:endParaRPr sz="2700"/>
          </a:p>
          <a:p>
            <a:pPr indent="-2476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b="1" lang="zh-TW" sz="2700">
                <a:solidFill>
                  <a:schemeClr val="accent2"/>
                </a:solidFill>
              </a:rPr>
              <a:t>training_data_2.csv</a:t>
            </a:r>
            <a:r>
              <a:rPr lang="zh-TW" sz="2700"/>
              <a:t> 包含最終特徵的</a:t>
            </a:r>
            <a:r>
              <a:rPr lang="zh-TW" sz="2700"/>
              <a:t>訓練</a:t>
            </a:r>
            <a:r>
              <a:rPr lang="zh-TW" sz="2700"/>
              <a:t>資料集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/>
              <a:t>測試資料</a:t>
            </a:r>
            <a:endParaRPr b="1"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建立新特徵：跑 build_feature.py，產生 all_feature_test.csv</a:t>
            </a:r>
            <a:endParaRPr sz="2700"/>
          </a:p>
          <a:p>
            <a:pPr indent="-2222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選取相同特徵：跑 process_test_data_2_2.py，產生 </a:t>
            </a:r>
            <a:r>
              <a:rPr b="1" lang="zh-TW" sz="2700">
                <a:solidFill>
                  <a:schemeClr val="accent2"/>
                </a:solidFill>
              </a:rPr>
              <a:t>test_data_2_2.csv</a:t>
            </a:r>
            <a:endParaRPr b="1" sz="2700">
              <a:solidFill>
                <a:schemeClr val="accent2"/>
              </a:solidFill>
            </a:endParaRPr>
          </a:p>
        </p:txBody>
      </p:sp>
      <p:sp>
        <p:nvSpPr>
          <p:cNvPr id="125" name="Google Shape;125;g37d00a36804_0_31"/>
          <p:cNvSpPr txBox="1"/>
          <p:nvPr/>
        </p:nvSpPr>
        <p:spPr>
          <a:xfrm>
            <a:off x="8693061" y="523220"/>
            <a:ext cx="571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*以下檔案在 114080_Source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d6acfa456_0_12"/>
          <p:cNvSpPr txBox="1"/>
          <p:nvPr>
            <p:ph type="title"/>
          </p:nvPr>
        </p:nvSpPr>
        <p:spPr>
          <a:xfrm>
            <a:off x="838200" y="209006"/>
            <a:ext cx="105156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lang="zh-TW"/>
              <a:t>二、程式執行步驟說明</a:t>
            </a:r>
            <a:endParaRPr/>
          </a:p>
        </p:txBody>
      </p:sp>
      <p:sp>
        <p:nvSpPr>
          <p:cNvPr id="131" name="Google Shape;131;g37d6acfa456_0_12"/>
          <p:cNvSpPr txBox="1"/>
          <p:nvPr>
            <p:ph idx="1" type="body"/>
          </p:nvPr>
        </p:nvSpPr>
        <p:spPr>
          <a:xfrm>
            <a:off x="838200" y="1227800"/>
            <a:ext cx="10515600" cy="54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/>
              <a:t>前提</a:t>
            </a:r>
            <a:endParaRPr b="1"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已獲得 training_data_2.csv 與 test_data_2_2.csv。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/>
              <a:t>說明</a:t>
            </a:r>
            <a:endParaRPr b="1"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t</a:t>
            </a:r>
            <a:r>
              <a:rPr lang="zh-TW" sz="2700"/>
              <a:t>est_data_2_2.csv 包含一些有正確 Disp.X 與 Disp.Z 的資料；為增加資料量以提升模型效能。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seperate 資料夾儲存競賽中需要預測的各個 CSV 檔案。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/>
              <a:t>操作</a:t>
            </a:r>
            <a:endParaRPr b="1"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zh-TW" sz="2700"/>
              <a:t>使用 1_merge.py 將兩個檔案合併，並重新切分資料為：</a:t>
            </a:r>
            <a:endParaRPr sz="2700"/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AutoNum type="alphaLcPeriod"/>
            </a:pPr>
            <a:r>
              <a:rPr lang="zh-TW" sz="2700"/>
              <a:t>database/</a:t>
            </a:r>
            <a:r>
              <a:rPr b="1" lang="zh-TW" sz="2700">
                <a:solidFill>
                  <a:schemeClr val="accent2"/>
                </a:solidFill>
              </a:rPr>
              <a:t>merge_remove_na.csv</a:t>
            </a:r>
            <a:r>
              <a:rPr lang="zh-TW" sz="2700"/>
              <a:t>（用來訓練模型的資料）</a:t>
            </a:r>
            <a:endParaRPr sz="2700"/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AutoNum type="alphaLcPeriod"/>
            </a:pPr>
            <a:r>
              <a:rPr lang="zh-TW" sz="2700"/>
              <a:t>database/</a:t>
            </a:r>
            <a:r>
              <a:rPr b="1" lang="zh-TW" sz="2700">
                <a:solidFill>
                  <a:schemeClr val="accent2"/>
                </a:solidFill>
              </a:rPr>
              <a:t>merge_only_na.csv</a:t>
            </a:r>
            <a:r>
              <a:rPr lang="zh-TW" sz="2700"/>
              <a:t>（後續需要預測的資料）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highlight>
                <a:schemeClr val="lt1"/>
              </a:highlight>
            </a:endParaRPr>
          </a:p>
        </p:txBody>
      </p:sp>
      <p:sp>
        <p:nvSpPr>
          <p:cNvPr id="132" name="Google Shape;132;g37d6acfa456_0_12"/>
          <p:cNvSpPr txBox="1"/>
          <p:nvPr/>
        </p:nvSpPr>
        <p:spPr>
          <a:xfrm>
            <a:off x="6281800" y="523220"/>
            <a:ext cx="571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*以下檔案在 114080_Source/training_2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9fc55eef_0_12"/>
          <p:cNvSpPr txBox="1"/>
          <p:nvPr>
            <p:ph type="title"/>
          </p:nvPr>
        </p:nvSpPr>
        <p:spPr>
          <a:xfrm>
            <a:off x="838200" y="209006"/>
            <a:ext cx="105156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lang="zh-TW"/>
              <a:t>二、程式執行步驟說明</a:t>
            </a:r>
            <a:endParaRPr/>
          </a:p>
        </p:txBody>
      </p:sp>
      <p:sp>
        <p:nvSpPr>
          <p:cNvPr id="138" name="Google Shape;138;g3889fc55eef_0_12"/>
          <p:cNvSpPr txBox="1"/>
          <p:nvPr>
            <p:ph idx="1" type="body"/>
          </p:nvPr>
        </p:nvSpPr>
        <p:spPr>
          <a:xfrm>
            <a:off x="838200" y="1227800"/>
            <a:ext cx="10515600" cy="54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700"/>
              <a:t>操作</a:t>
            </a:r>
            <a:br>
              <a:rPr b="1" lang="zh-TW" sz="2700"/>
            </a:br>
            <a:r>
              <a:rPr lang="zh-TW" sz="2700"/>
              <a:t> 使用 2_cut.py 再將 </a:t>
            </a:r>
            <a:r>
              <a:rPr lang="zh-TW" sz="2700">
                <a:solidFill>
                  <a:srgbClr val="000000"/>
                </a:solidFill>
              </a:rPr>
              <a:t>database/merge_remove_na.csv</a:t>
            </a:r>
            <a:r>
              <a:rPr lang="zh-TW" sz="2700"/>
              <a:t> 切分為：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database/train_data.csv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database/valid_data.csv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700"/>
              <a:t>目的</a:t>
            </a:r>
            <a:endParaRPr b="1" sz="2700"/>
          </a:p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挑選</a:t>
            </a:r>
            <a:r>
              <a:rPr b="1" lang="zh-TW" sz="2700"/>
              <a:t>不同溫度</a:t>
            </a:r>
            <a:r>
              <a:rPr lang="zh-TW" sz="2700"/>
              <a:t>與</a:t>
            </a:r>
            <a:r>
              <a:rPr b="1" lang="zh-TW" sz="2700"/>
              <a:t>不同變溫條件</a:t>
            </a:r>
            <a:r>
              <a:rPr lang="zh-TW" sz="2700"/>
              <a:t>的資料作為驗證集。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b="1" lang="zh-TW" sz="2700"/>
              <a:t>提早切出驗證集</a:t>
            </a:r>
            <a:r>
              <a:rPr lang="zh-TW" sz="2700"/>
              <a:t>，避免後續訓練時發生 </a:t>
            </a:r>
            <a:r>
              <a:rPr b="1" lang="zh-TW" sz="2700"/>
              <a:t>data leakage</a:t>
            </a:r>
            <a:r>
              <a:rPr lang="zh-TW" sz="2700"/>
              <a:t>。</a:t>
            </a:r>
            <a:endParaRPr sz="2700"/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zh-TW" sz="2700"/>
              <a:t>讓驗證集的條件</a:t>
            </a:r>
            <a:r>
              <a:rPr b="1" lang="zh-TW" sz="2700"/>
              <a:t>不集中於少數情境</a:t>
            </a:r>
            <a:r>
              <a:rPr lang="zh-TW" sz="2700"/>
              <a:t>，提高評估代表性。</a:t>
            </a:r>
            <a:endParaRPr sz="2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highlight>
                <a:schemeClr val="lt1"/>
              </a:highlight>
            </a:endParaRPr>
          </a:p>
        </p:txBody>
      </p:sp>
      <p:sp>
        <p:nvSpPr>
          <p:cNvPr id="139" name="Google Shape;139;g3889fc55eef_0_12"/>
          <p:cNvSpPr txBox="1"/>
          <p:nvPr/>
        </p:nvSpPr>
        <p:spPr>
          <a:xfrm>
            <a:off x="6281800" y="523220"/>
            <a:ext cx="571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*以下檔案在 114080_Source/training_2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89fc55eef_0_17"/>
          <p:cNvSpPr txBox="1"/>
          <p:nvPr>
            <p:ph type="title"/>
          </p:nvPr>
        </p:nvSpPr>
        <p:spPr>
          <a:xfrm>
            <a:off x="605700" y="249839"/>
            <a:ext cx="109806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3200"/>
              <a:buFont typeface="Microsoft JhengHei"/>
              <a:buNone/>
            </a:pPr>
            <a:r>
              <a:rPr lang="zh-TW"/>
              <a:t>二、程式執行步驟說明</a:t>
            </a:r>
            <a:endParaRPr/>
          </a:p>
        </p:txBody>
      </p:sp>
      <p:sp>
        <p:nvSpPr>
          <p:cNvPr id="145" name="Google Shape;145;g3889fc55eef_0_17"/>
          <p:cNvSpPr txBox="1"/>
          <p:nvPr>
            <p:ph idx="1" type="body"/>
          </p:nvPr>
        </p:nvSpPr>
        <p:spPr>
          <a:xfrm>
            <a:off x="605700" y="1268650"/>
            <a:ext cx="5361300" cy="52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400"/>
              <a:t>模型與訓練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 sz="2400"/>
              <a:t>以 </a:t>
            </a:r>
            <a:r>
              <a:rPr b="1" lang="zh-TW" sz="2400"/>
              <a:t>Optuna</a:t>
            </a:r>
            <a:r>
              <a:rPr lang="zh-TW" sz="2400"/>
              <a:t> 訓練：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zh-TW"/>
              <a:t>Disp.X → </a:t>
            </a:r>
            <a:r>
              <a:rPr b="1" lang="zh-TW"/>
              <a:t>GRU</a:t>
            </a:r>
            <a:endParaRPr b="1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zh-TW"/>
              <a:t>Disp.Z → </a:t>
            </a:r>
            <a:r>
              <a:rPr b="1" lang="zh-TW"/>
              <a:t>LSTM</a:t>
            </a:r>
            <a:endParaRPr b="1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zh-TW" sz="2400"/>
              <a:t>儲存路徑：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zh-TW"/>
              <a:t>gru/gru_model_DispX.pkl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○"/>
            </a:pPr>
            <a:r>
              <a:rPr lang="zh-TW"/>
              <a:t>lstm/Disp.Z_lstm_optuna.pth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400"/>
              <a:t>推論資料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zh-TW" sz="2400"/>
              <a:t>使用上述模型預測 database/</a:t>
            </a:r>
            <a:r>
              <a:rPr b="1" lang="zh-TW" sz="2400"/>
              <a:t>merge_only_na.csv</a:t>
            </a:r>
            <a:r>
              <a:rPr lang="zh-TW" sz="2400"/>
              <a:t>。</a:t>
            </a:r>
            <a:endParaRPr sz="2400">
              <a:highlight>
                <a:schemeClr val="lt1"/>
              </a:highlight>
            </a:endParaRPr>
          </a:p>
        </p:txBody>
      </p:sp>
      <p:sp>
        <p:nvSpPr>
          <p:cNvPr id="146" name="Google Shape;146;g3889fc55eef_0_17"/>
          <p:cNvSpPr txBox="1"/>
          <p:nvPr/>
        </p:nvSpPr>
        <p:spPr>
          <a:xfrm>
            <a:off x="5580050" y="1268650"/>
            <a:ext cx="63603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回填規則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依 </a:t>
            </a:r>
            <a:r>
              <a:rPr b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separate/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內各 CSV 的「檔名對應</a:t>
            </a:r>
            <a:r>
              <a:rPr b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日期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」、以及檔內 </a:t>
            </a:r>
            <a:r>
              <a:rPr b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欄位對齊，將預測值填回。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輸出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回填後的 CSV：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 merge.py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存於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merged/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，再壓縮為 </a:t>
            </a:r>
            <a:r>
              <a:rPr b="1" lang="zh-TW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114080_Answer_csv.zip</a:t>
            </a:r>
            <a:endParaRPr b="1"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對應 PDF：存於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merged_pdf/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，再壓縮為</a:t>
            </a:r>
            <a:r>
              <a:rPr b="1" lang="zh-TW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114080_Answer_pdf.zip</a:t>
            </a:r>
            <a:endParaRPr b="1" sz="2400">
              <a:solidFill>
                <a:schemeClr val="accent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889fc55eef_0_17"/>
          <p:cNvSpPr txBox="1"/>
          <p:nvPr/>
        </p:nvSpPr>
        <p:spPr>
          <a:xfrm>
            <a:off x="6281800" y="523220"/>
            <a:ext cx="5715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*以下檔案在 114080_Source</a:t>
            </a:r>
            <a:r>
              <a:rPr lang="zh-TW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/training_2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2021-08-30T01:22:19Z</dcterms:created>
</cp:coreProperties>
</file>