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797675" cy="992822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jD8VSmBG5vWmfPDlAs21xoVoXr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33150" y="744600"/>
            <a:ext cx="4532000" cy="3723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79750" y="4715900"/>
            <a:ext cx="5438125" cy="44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 txBox="1"/>
          <p:nvPr>
            <p:ph idx="1" type="body"/>
          </p:nvPr>
        </p:nvSpPr>
        <p:spPr>
          <a:xfrm>
            <a:off x="679750" y="4715900"/>
            <a:ext cx="5438125" cy="44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" name="Google Shape;80;p1:notes"/>
          <p:cNvSpPr/>
          <p:nvPr>
            <p:ph idx="2" type="sldImg"/>
          </p:nvPr>
        </p:nvSpPr>
        <p:spPr>
          <a:xfrm>
            <a:off x="1133150" y="744600"/>
            <a:ext cx="4532000" cy="3723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/>
          <p:nvPr>
            <p:ph idx="1" type="body"/>
          </p:nvPr>
        </p:nvSpPr>
        <p:spPr>
          <a:xfrm>
            <a:off x="679750" y="4715900"/>
            <a:ext cx="5438125" cy="44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p2:notes"/>
          <p:cNvSpPr/>
          <p:nvPr>
            <p:ph idx="2" type="sldImg"/>
          </p:nvPr>
        </p:nvSpPr>
        <p:spPr>
          <a:xfrm>
            <a:off x="1133150" y="744600"/>
            <a:ext cx="4532000" cy="3723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79750" y="4715900"/>
            <a:ext cx="5438125" cy="44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B 東台精機</a:t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1133150" y="744600"/>
            <a:ext cx="4532000" cy="3723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9fea4c5d5_1_58:notes"/>
          <p:cNvSpPr txBox="1"/>
          <p:nvPr>
            <p:ph idx="1" type="body"/>
          </p:nvPr>
        </p:nvSpPr>
        <p:spPr>
          <a:xfrm>
            <a:off x="679750" y="4715900"/>
            <a:ext cx="5438100" cy="44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B 東台精機</a:t>
            </a:r>
            <a:endParaRPr/>
          </a:p>
        </p:txBody>
      </p:sp>
      <p:sp>
        <p:nvSpPr>
          <p:cNvPr id="97" name="Google Shape;97;g399fea4c5d5_1_58:notes"/>
          <p:cNvSpPr/>
          <p:nvPr>
            <p:ph idx="2" type="sldImg"/>
          </p:nvPr>
        </p:nvSpPr>
        <p:spPr>
          <a:xfrm>
            <a:off x="1133150" y="744600"/>
            <a:ext cx="4532100" cy="3723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9fea4c5d5_1_50:notes"/>
          <p:cNvSpPr txBox="1"/>
          <p:nvPr>
            <p:ph idx="1" type="body"/>
          </p:nvPr>
        </p:nvSpPr>
        <p:spPr>
          <a:xfrm>
            <a:off x="679750" y="4715900"/>
            <a:ext cx="5438100" cy="44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g399fea4c5d5_1_50:notes"/>
          <p:cNvSpPr/>
          <p:nvPr>
            <p:ph idx="2" type="sldImg"/>
          </p:nvPr>
        </p:nvSpPr>
        <p:spPr>
          <a:xfrm>
            <a:off x="1133150" y="744600"/>
            <a:ext cx="4532100" cy="3723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7bafba918_1_51:notes"/>
          <p:cNvSpPr txBox="1"/>
          <p:nvPr>
            <p:ph idx="1" type="body"/>
          </p:nvPr>
        </p:nvSpPr>
        <p:spPr>
          <a:xfrm>
            <a:off x="679750" y="4715900"/>
            <a:ext cx="5438100" cy="44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g3a7bafba918_1_51:notes"/>
          <p:cNvSpPr/>
          <p:nvPr>
            <p:ph idx="2" type="sldImg"/>
          </p:nvPr>
        </p:nvSpPr>
        <p:spPr>
          <a:xfrm>
            <a:off x="1133150" y="744600"/>
            <a:ext cx="4532100" cy="3723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7bafba918_1_60:notes"/>
          <p:cNvSpPr txBox="1"/>
          <p:nvPr>
            <p:ph idx="1" type="body"/>
          </p:nvPr>
        </p:nvSpPr>
        <p:spPr>
          <a:xfrm>
            <a:off x="679750" y="4715900"/>
            <a:ext cx="5438100" cy="44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g3a7bafba918_1_60:notes"/>
          <p:cNvSpPr/>
          <p:nvPr>
            <p:ph idx="2" type="sldImg"/>
          </p:nvPr>
        </p:nvSpPr>
        <p:spPr>
          <a:xfrm>
            <a:off x="1133150" y="744600"/>
            <a:ext cx="4532100" cy="3723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7bafba918_1_28:notes"/>
          <p:cNvSpPr txBox="1"/>
          <p:nvPr>
            <p:ph idx="1" type="body"/>
          </p:nvPr>
        </p:nvSpPr>
        <p:spPr>
          <a:xfrm>
            <a:off x="679750" y="4715900"/>
            <a:ext cx="5438100" cy="44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b="1" lang="zh-TW" sz="1300">
                <a:solidFill>
                  <a:schemeClr val="dk1"/>
                </a:solidFill>
              </a:rPr>
              <a:t>CatBoost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專為類別特徵設計，內建處理機制。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Ordered Boosting 減少梯度偏差，適合小樣本。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支援 GPU 加速與大數據。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適用於信用評分、風險模型、推薦系統。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b="1" lang="zh-TW" sz="1300">
                <a:solidFill>
                  <a:schemeClr val="dk1"/>
                </a:solidFill>
              </a:rPr>
              <a:t>LightGBM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Leaf-wise 樹生長策略，訓練速度快。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Gradient-based One-Side Sampling (GOSS) 提升效率。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Exclusive Feature Bundling (EFB) 降維處理。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b="1" lang="zh-TW" sz="1300">
                <a:solidFill>
                  <a:schemeClr val="dk1"/>
                </a:solidFill>
              </a:rPr>
              <a:t>XGBoost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Level-wise 樹生長策略，穩定性高。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支援正則化（L1/L2），防止 overfitting。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支援並行運算，適合大資料集。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廣泛應用於 Kaggle 比賽、風險預測、特徵重要性分析。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121" name="Google Shape;121;g3a7bafba918_1_28:notes"/>
          <p:cNvSpPr/>
          <p:nvPr>
            <p:ph idx="2" type="sldImg"/>
          </p:nvPr>
        </p:nvSpPr>
        <p:spPr>
          <a:xfrm>
            <a:off x="1133150" y="744600"/>
            <a:ext cx="4532100" cy="3723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9fea4c5d5_1_38:notes"/>
          <p:cNvSpPr txBox="1"/>
          <p:nvPr>
            <p:ph idx="1" type="body"/>
          </p:nvPr>
        </p:nvSpPr>
        <p:spPr>
          <a:xfrm>
            <a:off x="679750" y="4715900"/>
            <a:ext cx="5438100" cy="44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b="1" lang="zh-TW" sz="1300">
                <a:solidFill>
                  <a:schemeClr val="dk1"/>
                </a:solidFill>
              </a:rPr>
              <a:t>CatBoost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專為類別特徵設計，內建處理機制。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Ordered Boosting 減少梯度偏差，適合小樣本。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支援 GPU 加速與大數據。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適用於信用評分、風險模型、推薦系統。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b="1" lang="zh-TW" sz="1300">
                <a:solidFill>
                  <a:schemeClr val="dk1"/>
                </a:solidFill>
              </a:rPr>
              <a:t>LightGBM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Leaf-wise 樹生長策略，訓練速度快。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Gradient-based One-Side Sampling (GOSS) 提升效率。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Exclusive Feature Bundling (EFB) 降維處理。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b="1" lang="zh-TW" sz="1300">
                <a:solidFill>
                  <a:schemeClr val="dk1"/>
                </a:solidFill>
              </a:rPr>
              <a:t>XGBoost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Level-wise 樹生長策略，穩定性高。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支援正則化（L1/L2），防止 overfitting。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支援並行運算，適合大資料集。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廣泛應用於 Kaggle 比賽、風險預測、特徵重要性分析。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127" name="Google Shape;127;g399fea4c5d5_1_38:notes"/>
          <p:cNvSpPr/>
          <p:nvPr>
            <p:ph idx="2" type="sldImg"/>
          </p:nvPr>
        </p:nvSpPr>
        <p:spPr>
          <a:xfrm>
            <a:off x="1133150" y="744600"/>
            <a:ext cx="4532100" cy="3723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9fea4c5d5_1_32:notes"/>
          <p:cNvSpPr txBox="1"/>
          <p:nvPr>
            <p:ph idx="1" type="body"/>
          </p:nvPr>
        </p:nvSpPr>
        <p:spPr>
          <a:xfrm>
            <a:off x="679750" y="4715900"/>
            <a:ext cx="5438100" cy="44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b="1" lang="zh-TW" sz="1300">
                <a:solidFill>
                  <a:schemeClr val="dk1"/>
                </a:solidFill>
              </a:rPr>
              <a:t>CatBoost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專為類別特徵設計，內建處理機制。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Ordered Boosting 減少梯度偏差，適合小樣本。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支援 GPU 加速與大數據。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適用於信用評分、風險模型、推薦系統。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b="1" lang="zh-TW" sz="1300">
                <a:solidFill>
                  <a:schemeClr val="dk1"/>
                </a:solidFill>
              </a:rPr>
              <a:t>LightGBM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Leaf-wise 樹生長策略，訓練速度快。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Gradient-based One-Side Sampling (GOSS) 提升效率。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Exclusive Feature Bundling (EFB) 降維處理。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b="1" lang="zh-TW" sz="1300">
                <a:solidFill>
                  <a:schemeClr val="dk1"/>
                </a:solidFill>
              </a:rPr>
              <a:t>XGBoost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Level-wise 樹生長策略，穩定性高。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支援正則化（L1/L2），防止 overfitting。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支援並行運算，適合大資料集。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廣泛應用於 Kaggle 比賽、風險預測、特徵重要性分析。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133" name="Google Shape;133;g399fea4c5d5_1_32:notes"/>
          <p:cNvSpPr/>
          <p:nvPr>
            <p:ph idx="2" type="sldImg"/>
          </p:nvPr>
        </p:nvSpPr>
        <p:spPr>
          <a:xfrm>
            <a:off x="1133150" y="744600"/>
            <a:ext cx="4532100" cy="3723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9fea4c5d5_1_44:notes"/>
          <p:cNvSpPr txBox="1"/>
          <p:nvPr>
            <p:ph idx="1" type="body"/>
          </p:nvPr>
        </p:nvSpPr>
        <p:spPr>
          <a:xfrm>
            <a:off x="679750" y="4715900"/>
            <a:ext cx="5438100" cy="44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b="1" lang="zh-TW" sz="1300">
                <a:solidFill>
                  <a:schemeClr val="dk1"/>
                </a:solidFill>
              </a:rPr>
              <a:t>CatBoost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專為類別特徵設計，內建處理機制。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Ordered Boosting 減少梯度偏差，適合小樣本。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支援 GPU 加速與大數據。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適用於信用評分、風險模型、推薦系統。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b="1" lang="zh-TW" sz="1300">
                <a:solidFill>
                  <a:schemeClr val="dk1"/>
                </a:solidFill>
              </a:rPr>
              <a:t>LightGBM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Leaf-wise 樹生長策略，訓練速度快。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Gradient-based One-Side Sampling (GOSS) 提升效率。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Exclusive Feature Bundling (EFB) 降維處理。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b="1" lang="zh-TW" sz="1300">
                <a:solidFill>
                  <a:schemeClr val="dk1"/>
                </a:solidFill>
              </a:rPr>
              <a:t>XGBoost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Level-wise 樹生長策略，穩定性高。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支援正則化（L1/L2），防止 overfitting。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支援並行運算，適合大資料集。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廣泛應用於 Kaggle 比賽、風險預測、特徵重要性分析。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139" name="Google Shape;139;g399fea4c5d5_1_44:notes"/>
          <p:cNvSpPr/>
          <p:nvPr>
            <p:ph idx="2" type="sldImg"/>
          </p:nvPr>
        </p:nvSpPr>
        <p:spPr>
          <a:xfrm>
            <a:off x="1133150" y="744600"/>
            <a:ext cx="4532100" cy="3723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7bafba918_1_75:notes"/>
          <p:cNvSpPr txBox="1"/>
          <p:nvPr>
            <p:ph idx="1" type="body"/>
          </p:nvPr>
        </p:nvSpPr>
        <p:spPr>
          <a:xfrm>
            <a:off x="679750" y="4715900"/>
            <a:ext cx="5438100" cy="44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b="1" lang="zh-TW" sz="1300">
                <a:solidFill>
                  <a:schemeClr val="dk1"/>
                </a:solidFill>
              </a:rPr>
              <a:t>CatBoost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專為類別特徵設計，內建處理機制。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Ordered Boosting 減少梯度偏差，適合小樣本。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支援 GPU 加速與大數據。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適用於信用評分、風險模型、推薦系統。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b="1" lang="zh-TW" sz="1300">
                <a:solidFill>
                  <a:schemeClr val="dk1"/>
                </a:solidFill>
              </a:rPr>
              <a:t>LightGBM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Leaf-wise 樹生長策略，訓練速度快。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Gradient-based One-Side Sampling (GOSS) 提升效率。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Exclusive Feature Bundling (EFB) 降維處理。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b="1" lang="zh-TW" sz="1300">
                <a:solidFill>
                  <a:schemeClr val="dk1"/>
                </a:solidFill>
              </a:rPr>
              <a:t>XGBoost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Level-wise 樹生長策略，穩定性高。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支援正則化（L1/L2），防止 overfitting。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支援並行運算，適合大資料集。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廣泛應用於 Kaggle 比賽、風險預測、特徵重要性分析。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145" name="Google Shape;145;g3a7bafba918_1_75:notes"/>
          <p:cNvSpPr/>
          <p:nvPr>
            <p:ph idx="2" type="sldImg"/>
          </p:nvPr>
        </p:nvSpPr>
        <p:spPr>
          <a:xfrm>
            <a:off x="1133150" y="744600"/>
            <a:ext cx="4532100" cy="3723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79750" y="4715900"/>
            <a:ext cx="5438125" cy="44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1133150" y="744600"/>
            <a:ext cx="4532000" cy="3723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7bafba918_1_87:notes"/>
          <p:cNvSpPr txBox="1"/>
          <p:nvPr>
            <p:ph idx="1" type="body"/>
          </p:nvPr>
        </p:nvSpPr>
        <p:spPr>
          <a:xfrm>
            <a:off x="679750" y="4715900"/>
            <a:ext cx="5438100" cy="44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a7bafba918_1_87:notes"/>
          <p:cNvSpPr/>
          <p:nvPr>
            <p:ph idx="2" type="sldImg"/>
          </p:nvPr>
        </p:nvSpPr>
        <p:spPr>
          <a:xfrm>
            <a:off x="1133150" y="744600"/>
            <a:ext cx="4532100" cy="3723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Microsoft JhengHei"/>
              <a:buNone/>
              <a:defRPr b="1" sz="4000">
                <a:solidFill>
                  <a:srgbClr val="C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" type="body"/>
          </p:nvPr>
        </p:nvSpPr>
        <p:spPr>
          <a:xfrm>
            <a:off x="838200" y="1690688"/>
            <a:ext cx="10515600" cy="4943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1"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b="1"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項物件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對" type="twoTxTwoObj">
  <p:cSld name="TWO_OBJECTS_WITH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1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內容" type="objTx">
  <p:cSld name="OBJECT_WITH_CAPTION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5" name="Google Shape;55;p1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6" name="Google Shape;56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圖片" type="picTx">
  <p:cSld name="PICTURE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1" name="Google Shape;11;p7"/>
          <p:cNvSpPr txBox="1"/>
          <p:nvPr/>
        </p:nvSpPr>
        <p:spPr>
          <a:xfrm>
            <a:off x="11657862" y="6383525"/>
            <a:ext cx="6372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zh-TW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"/>
          <p:cNvSpPr txBox="1"/>
          <p:nvPr>
            <p:ph type="ctrTitle"/>
          </p:nvPr>
        </p:nvSpPr>
        <p:spPr>
          <a:xfrm>
            <a:off x="2363007" y="3250223"/>
            <a:ext cx="7772400" cy="19782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rosoft JhengHei"/>
              <a:buNone/>
            </a:pPr>
            <a:r>
              <a:rPr b="1" lang="zh-TW"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報名序號：114</a:t>
            </a:r>
            <a:r>
              <a:rPr b="1" lang="zh-TW" sz="3000">
                <a:latin typeface="Microsoft JhengHei"/>
                <a:ea typeface="Microsoft JhengHei"/>
                <a:cs typeface="Microsoft JhengHei"/>
                <a:sym typeface="Microsoft JhengHei"/>
              </a:rPr>
              <a:t>080</a:t>
            </a:r>
            <a:br>
              <a:rPr b="1" lang="zh-TW"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b="1" lang="zh-TW"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團隊名稱：</a:t>
            </a:r>
            <a:r>
              <a:rPr b="1" lang="zh-TW" sz="3000">
                <a:latin typeface="Microsoft JhengHei"/>
                <a:ea typeface="Microsoft JhengHei"/>
                <a:cs typeface="Microsoft JhengHei"/>
                <a:sym typeface="Microsoft JhengHei"/>
              </a:rPr>
              <a:t>權志龍給我門票</a:t>
            </a:r>
            <a:endParaRPr b="1" sz="30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rosoft JhengHei"/>
              <a:buNone/>
            </a:pPr>
            <a:r>
              <a:t/>
            </a:r>
            <a:endParaRPr b="1" sz="30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3" name="Google Shape;83;p1"/>
          <p:cNvSpPr txBox="1"/>
          <p:nvPr/>
        </p:nvSpPr>
        <p:spPr>
          <a:xfrm>
            <a:off x="1524000" y="1504526"/>
            <a:ext cx="91440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zh-TW" sz="3200" u="sng" cap="none" strike="noStrike">
                <a:solidFill>
                  <a:srgbClr val="C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2025全國智慧製造大數據分析競賽決賽</a:t>
            </a:r>
            <a:endParaRPr b="1" i="0" sz="3200" u="sng" cap="none" strike="noStrike">
              <a:solidFill>
                <a:srgbClr val="C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zh-TW" sz="3200" u="sng" cap="none" strike="noStrike">
                <a:solidFill>
                  <a:srgbClr val="C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團隊測驗報告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"/>
          <p:cNvSpPr/>
          <p:nvPr/>
        </p:nvSpPr>
        <p:spPr>
          <a:xfrm>
            <a:off x="823076" y="1320730"/>
            <a:ext cx="10545848" cy="4216539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zh-TW" sz="2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【提醒】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zh-TW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11/22(六)請繳交兩種檔案：</a:t>
            </a:r>
            <a:endParaRPr b="1" i="0" sz="2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zh-TW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1. </a:t>
            </a:r>
            <a:r>
              <a:rPr b="1" i="0" lang="zh-TW" sz="2000" u="sng" cap="none" strike="noStrike">
                <a:solidFill>
                  <a:srgbClr val="C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簡報檔</a:t>
            </a:r>
            <a:r>
              <a:rPr b="1" i="0" lang="zh-TW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，檔名命名規則如下，使用英文命名：</a:t>
            </a:r>
            <a:endParaRPr b="1" i="0" sz="2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zh-TW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- ProjectA：報名序號_ projectA _report</a:t>
            </a:r>
            <a:r>
              <a:rPr b="1" i="0" lang="zh-TW" sz="2000" u="none" cap="none" strike="noStrik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.pdf</a:t>
            </a:r>
            <a:r>
              <a:rPr b="1" i="0" lang="zh-TW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，例如：114999_projectA_report.pdf</a:t>
            </a:r>
            <a:endParaRPr b="1" i="0" sz="2000" u="none" cap="none" strike="noStrike">
              <a:solidFill>
                <a:srgbClr val="C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zh-TW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- ProjectB：報名序號_ projectB _report</a:t>
            </a:r>
            <a:r>
              <a:rPr b="1" i="0" lang="zh-TW" sz="2000" u="none" cap="none" strike="noStrik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.pdf</a:t>
            </a:r>
            <a:r>
              <a:rPr b="1" i="0" lang="zh-TW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，例如：114999_projectB_report.pdf</a:t>
            </a:r>
            <a:endParaRPr b="1" i="0" sz="2000" u="none" cap="none" strike="noStrike">
              <a:solidFill>
                <a:srgbClr val="C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zh-TW" sz="2000" u="none" cap="none" strike="noStrike">
                <a:solidFill>
                  <a:srgbClr val="C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zh-TW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2. </a:t>
            </a:r>
            <a:r>
              <a:rPr b="1" i="0" lang="zh-TW" sz="2000" u="sng" cap="none" strike="noStrike">
                <a:solidFill>
                  <a:srgbClr val="C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決賽測驗結果檔</a:t>
            </a:r>
            <a:r>
              <a:rPr b="1" i="0" lang="zh-TW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，檔名命名規則如下，使用英文命名：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6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zh-TW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- ProjectA：報名序號_projectA_ans</a:t>
            </a:r>
            <a:r>
              <a:rPr b="1" i="0" lang="zh-TW" sz="2000" u="none" cap="none" strike="noStrik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.csv</a:t>
            </a:r>
            <a:r>
              <a:rPr b="1" i="0" lang="zh-TW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，例如：114999_projectA_ans.csv</a:t>
            </a:r>
            <a:endParaRPr b="1" i="0" sz="2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36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zh-TW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- ProjectB：報名序號_projectB_ans</a:t>
            </a:r>
            <a:r>
              <a:rPr b="1" i="0" lang="zh-TW" sz="2000" u="none" cap="none" strike="noStrik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.csv</a:t>
            </a:r>
            <a:r>
              <a:rPr b="1" i="0" lang="zh-TW" sz="20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，例如：114999_projectB_ans.csv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C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Microsoft JhengHei"/>
              <a:buNone/>
            </a:pPr>
            <a:r>
              <a:rPr b="1" lang="zh-TW">
                <a:solidFill>
                  <a:srgbClr val="C00000"/>
                </a:solidFill>
              </a:rPr>
              <a:t>一、資料前處理</a:t>
            </a:r>
            <a:r>
              <a:rPr lang="zh-TW"/>
              <a:t>(資料特徵介紹)</a:t>
            </a:r>
            <a:endParaRPr b="1">
              <a:solidFill>
                <a:srgbClr val="C00000"/>
              </a:solidFill>
            </a:endParaRPr>
          </a:p>
        </p:txBody>
      </p:sp>
      <p:sp>
        <p:nvSpPr>
          <p:cNvPr id="94" name="Google Shape;94;p3"/>
          <p:cNvSpPr txBox="1"/>
          <p:nvPr/>
        </p:nvSpPr>
        <p:spPr>
          <a:xfrm>
            <a:off x="754275" y="1386708"/>
            <a:ext cx="10515600" cy="4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508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zh-TW" sz="2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三種晶向：</a:t>
            </a:r>
            <a:endParaRPr b="1" sz="2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7973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icrosoft JhengHei"/>
              <a:buChar char="●"/>
            </a:pPr>
            <a:r>
              <a:rPr b="1" lang="zh-TW" sz="2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100：四條晶線，斷線時出現橫向摺痕。</a:t>
            </a:r>
            <a:endParaRPr b="1" sz="2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7973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icrosoft JhengHei"/>
              <a:buChar char="●"/>
            </a:pPr>
            <a:r>
              <a:rPr b="1" lang="zh-TW" sz="2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111：六條明顯晶線，斷線時出現橫向皺褶。</a:t>
            </a:r>
            <a:endParaRPr b="1" sz="2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7973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icrosoft JhengHei"/>
              <a:buChar char="●"/>
            </a:pPr>
            <a:r>
              <a:rPr b="1" lang="zh-TW" sz="2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776：與 111 類似，也是六條晶線與橫向皺褶。</a:t>
            </a:r>
            <a:endParaRPr b="1" sz="2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zh-TW" sz="2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整體資料量：</a:t>
            </a:r>
            <a:endParaRPr b="1" sz="2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7973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icrosoft JhengHei"/>
              <a:buChar char="●"/>
            </a:pPr>
            <a:r>
              <a:rPr b="1" lang="zh-TW" sz="2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100：影像 8,380 張，訓練影像 7,622，測試 758</a:t>
            </a:r>
            <a:endParaRPr b="1" sz="2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7973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icrosoft JhengHei"/>
              <a:buChar char="●"/>
            </a:pPr>
            <a:r>
              <a:rPr b="1" lang="zh-TW" sz="2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111：影像 16,312 張，訓練 14,726，測試 1,586</a:t>
            </a:r>
            <a:endParaRPr b="1" sz="2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7973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icrosoft JhengHei"/>
              <a:buChar char="●"/>
            </a:pPr>
            <a:r>
              <a:rPr b="1" lang="zh-TW" sz="2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776：影像 16,570 張，訓練 15,472，測試 1,098</a:t>
            </a:r>
            <a:endParaRPr b="1" sz="2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7973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icrosoft JhengHei"/>
              <a:buChar char="●"/>
            </a:pPr>
            <a:r>
              <a:rPr b="1" lang="zh-TW" sz="2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總計：影像 41,262 張，座標框 6,689 個。</a:t>
            </a:r>
            <a:endParaRPr b="1" sz="2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zh-TW" sz="2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本資料為矽單晶長晶的連續 CCD 影像，每個 lot 內包含一串時間序列影像與對應斷線標註框，目標是偵測影像中所有斷線位置。</a:t>
            </a:r>
            <a:endParaRPr b="1" sz="2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9fea4c5d5_1_5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Microsoft JhengHei"/>
              <a:buNone/>
            </a:pPr>
            <a:r>
              <a:rPr b="1" lang="zh-TW">
                <a:solidFill>
                  <a:srgbClr val="C00000"/>
                </a:solidFill>
              </a:rPr>
              <a:t>一、資料前處理</a:t>
            </a:r>
            <a:r>
              <a:rPr lang="zh-TW"/>
              <a:t>(資料特徵觀察)</a:t>
            </a:r>
            <a:endParaRPr b="1">
              <a:solidFill>
                <a:srgbClr val="C00000"/>
              </a:solidFill>
            </a:endParaRPr>
          </a:p>
        </p:txBody>
      </p:sp>
      <p:sp>
        <p:nvSpPr>
          <p:cNvPr id="100" name="Google Shape;100;g399fea4c5d5_1_58"/>
          <p:cNvSpPr txBox="1"/>
          <p:nvPr/>
        </p:nvSpPr>
        <p:spPr>
          <a:xfrm>
            <a:off x="754275" y="1386700"/>
            <a:ext cx="10897200" cy="4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300"/>
              <a:buFont typeface="Microsoft JhengHei"/>
              <a:buChar char="●"/>
            </a:pPr>
            <a:r>
              <a:rPr b="1" lang="zh-TW" sz="2300">
                <a:latin typeface="Microsoft JhengHei"/>
                <a:ea typeface="Microsoft JhengHei"/>
                <a:cs typeface="Microsoft JhengHei"/>
                <a:sym typeface="Microsoft JhengHei"/>
              </a:rPr>
              <a:t>視覺特徵：</a:t>
            </a:r>
            <a:endParaRPr b="1" sz="23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Microsoft JhengHei"/>
              <a:buChar char="○"/>
            </a:pPr>
            <a:r>
              <a:rPr b="1" lang="zh-TW" sz="2300">
                <a:latin typeface="Microsoft JhengHei"/>
                <a:ea typeface="Microsoft JhengHei"/>
                <a:cs typeface="Microsoft JhengHei"/>
                <a:sym typeface="Microsoft JhengHei"/>
              </a:rPr>
              <a:t>正常狀態：晶線紋路連續、規律。</a:t>
            </a:r>
            <a:endParaRPr b="1" sz="23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Microsoft JhengHei"/>
              <a:buChar char="○"/>
            </a:pPr>
            <a:r>
              <a:rPr b="1" lang="zh-TW" sz="2300">
                <a:latin typeface="Microsoft JhengHei"/>
                <a:ea typeface="Microsoft JhengHei"/>
                <a:cs typeface="Microsoft JhengHei"/>
                <a:sym typeface="Microsoft JhengHei"/>
              </a:rPr>
              <a:t>斷線狀態：出現橫向皺褶／摺痕，亮暗對比變化明顯。</a:t>
            </a:r>
            <a:br>
              <a:rPr b="1" lang="zh-TW" sz="2300"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endParaRPr b="1" sz="23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Microsoft JhengHei"/>
              <a:buChar char="●"/>
            </a:pPr>
            <a:r>
              <a:rPr b="1" lang="zh-TW" sz="2300">
                <a:latin typeface="Microsoft JhengHei"/>
                <a:ea typeface="Microsoft JhengHei"/>
                <a:cs typeface="Microsoft JhengHei"/>
                <a:sym typeface="Microsoft JhengHei"/>
              </a:rPr>
              <a:t>拍攝條件：</a:t>
            </a:r>
            <a:endParaRPr b="1" sz="23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Microsoft JhengHei"/>
              <a:buChar char="○"/>
            </a:pPr>
            <a:r>
              <a:rPr b="1" lang="zh-TW" sz="2300">
                <a:latin typeface="Microsoft JhengHei"/>
                <a:ea typeface="Microsoft JhengHei"/>
                <a:cs typeface="Microsoft JhengHei"/>
                <a:sym typeface="Microsoft JhengHei"/>
              </a:rPr>
              <a:t>不同日期與機位，亮度、對比與噪聲條件不一致。</a:t>
            </a:r>
            <a:br>
              <a:rPr b="1" lang="zh-TW" sz="2300"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endParaRPr b="1" sz="23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Microsoft JhengHei"/>
              <a:buChar char="●"/>
            </a:pPr>
            <a:r>
              <a:rPr b="1" lang="zh-TW" sz="2300">
                <a:latin typeface="Microsoft JhengHei"/>
                <a:ea typeface="Microsoft JhengHei"/>
                <a:cs typeface="Microsoft JhengHei"/>
                <a:sym typeface="Microsoft JhengHei"/>
              </a:rPr>
              <a:t>標註特性：</a:t>
            </a:r>
            <a:endParaRPr b="1" sz="23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746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Microsoft JhengHei"/>
              <a:buChar char="○"/>
            </a:pPr>
            <a:r>
              <a:rPr b="1" lang="zh-TW" sz="2300">
                <a:latin typeface="Microsoft JhengHei"/>
                <a:ea typeface="Microsoft JhengHei"/>
                <a:cs typeface="Microsoft JhengHei"/>
                <a:sym typeface="Microsoft JhengHei"/>
              </a:rPr>
              <a:t>同一段連續影像中，斷線通常只在一小段時間內出現。</a:t>
            </a:r>
            <a:br>
              <a:rPr b="1" lang="zh-TW" sz="2300"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endParaRPr b="1" sz="23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2300">
                <a:latin typeface="Microsoft JhengHei"/>
                <a:ea typeface="Microsoft JhengHei"/>
                <a:cs typeface="Microsoft JhengHei"/>
                <a:sym typeface="Microsoft JhengHei"/>
              </a:rPr>
              <a:t>因此此階段預期「裁切只保留晶體有效區域」以及「強化影像對比與穩定亮度」，作為前處理步驟。</a:t>
            </a:r>
            <a:endParaRPr b="1" sz="23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9fea4c5d5_1_50"/>
          <p:cNvSpPr txBox="1"/>
          <p:nvPr>
            <p:ph type="title"/>
          </p:nvPr>
        </p:nvSpPr>
        <p:spPr>
          <a:xfrm>
            <a:off x="571500" y="466725"/>
            <a:ext cx="12318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Microsoft JhengHei"/>
              <a:buNone/>
            </a:pPr>
            <a:r>
              <a:rPr b="1" lang="zh-TW" sz="3600">
                <a:solidFill>
                  <a:srgbClr val="C00000"/>
                </a:solidFill>
              </a:rPr>
              <a:t>一、資料前處理</a:t>
            </a:r>
            <a:r>
              <a:rPr lang="zh-TW" sz="3600"/>
              <a:t>(A_training_1 → A_training_1_proc)</a:t>
            </a:r>
            <a:endParaRPr b="1" sz="3600">
              <a:solidFill>
                <a:srgbClr val="C00000"/>
              </a:solidFill>
            </a:endParaRPr>
          </a:p>
        </p:txBody>
      </p:sp>
      <p:sp>
        <p:nvSpPr>
          <p:cNvPr id="106" name="Google Shape;106;g399fea4c5d5_1_50"/>
          <p:cNvSpPr txBox="1"/>
          <p:nvPr/>
        </p:nvSpPr>
        <p:spPr>
          <a:xfrm>
            <a:off x="964500" y="1655908"/>
            <a:ext cx="10515600" cy="4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900">
                <a:solidFill>
                  <a:srgbClr val="1880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preprocess_projectA.py</a:t>
            </a:r>
            <a:r>
              <a:rPr b="1" lang="zh-TW" sz="1900">
                <a:latin typeface="Microsoft JhengHei"/>
                <a:ea typeface="Microsoft JhengHei"/>
                <a:cs typeface="Microsoft JhengHei"/>
                <a:sym typeface="Microsoft JhengHei"/>
              </a:rPr>
              <a:t> 功能：</a:t>
            </a:r>
            <a:endParaRPr b="1" sz="19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9250" lvl="0" marL="457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Font typeface="Microsoft JhengHei"/>
              <a:buChar char="●"/>
            </a:pPr>
            <a:r>
              <a:rPr b="1" lang="zh-TW" sz="1900">
                <a:latin typeface="Microsoft JhengHei"/>
                <a:ea typeface="Microsoft JhengHei"/>
                <a:cs typeface="Microsoft JhengHei"/>
                <a:sym typeface="Microsoft JhengHei"/>
              </a:rPr>
              <a:t>輸入：</a:t>
            </a:r>
            <a:r>
              <a:rPr b="1" lang="zh-TW" sz="1900">
                <a:solidFill>
                  <a:srgbClr val="1880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A_training_1</a:t>
            </a:r>
            <a:r>
              <a:rPr b="1" lang="zh-TW" sz="1900">
                <a:latin typeface="Microsoft JhengHei"/>
                <a:ea typeface="Microsoft JhengHei"/>
                <a:cs typeface="Microsoft JhengHei"/>
                <a:sym typeface="Microsoft JhengHei"/>
              </a:rPr>
              <a:t>（100/111/776 下所有 lot）。</a:t>
            </a:r>
            <a:endParaRPr b="1" sz="19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9250" lvl="0" marL="457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Microsoft JhengHei"/>
              <a:buChar char="●"/>
            </a:pPr>
            <a:r>
              <a:rPr b="1" lang="zh-TW" sz="1900">
                <a:latin typeface="Microsoft JhengHei"/>
                <a:ea typeface="Microsoft JhengHei"/>
                <a:cs typeface="Microsoft JhengHei"/>
                <a:sym typeface="Microsoft JhengHei"/>
              </a:rPr>
              <a:t>對每張圖：只保留晶體區域，裁掉多餘背景。</a:t>
            </a:r>
            <a:endParaRPr b="1" sz="19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9250" lvl="0" marL="457200" marR="381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Microsoft JhengHei"/>
              <a:buChar char="●"/>
            </a:pPr>
            <a:r>
              <a:rPr b="1" lang="zh-TW" sz="1900">
                <a:latin typeface="Microsoft JhengHei"/>
                <a:ea typeface="Microsoft JhengHei"/>
                <a:cs typeface="Microsoft JhengHei"/>
                <a:sym typeface="Microsoft JhengHei"/>
              </a:rPr>
              <a:t>同</a:t>
            </a:r>
            <a:r>
              <a:rPr b="1" lang="zh-TW" sz="1900">
                <a:latin typeface="Microsoft JhengHei"/>
                <a:ea typeface="Microsoft JhengHei"/>
                <a:cs typeface="Microsoft JhengHei"/>
                <a:sym typeface="Microsoft JhengHei"/>
              </a:rPr>
              <a:t>步把對應 YOLO 標籤一起搬到新位置。</a:t>
            </a:r>
            <a:endParaRPr b="1" sz="19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900">
                <a:latin typeface="Microsoft JhengHei"/>
                <a:ea typeface="Microsoft JhengHei"/>
                <a:cs typeface="Microsoft JhengHei"/>
                <a:sym typeface="Microsoft JhengHei"/>
              </a:rPr>
              <a:t>輸出：</a:t>
            </a:r>
            <a:r>
              <a:rPr b="1" lang="zh-TW" sz="1900">
                <a:solidFill>
                  <a:srgbClr val="1880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A_training_1_proc</a:t>
            </a:r>
            <a:endParaRPr b="1" sz="1900">
              <a:solidFill>
                <a:srgbClr val="188038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9250" lvl="0" marL="457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Font typeface="Microsoft JhengHei"/>
              <a:buChar char="●"/>
            </a:pPr>
            <a:r>
              <a:rPr b="1" lang="zh-TW" sz="1900">
                <a:latin typeface="Microsoft JhengHei"/>
                <a:ea typeface="Microsoft JhengHei"/>
                <a:cs typeface="Microsoft JhengHei"/>
                <a:sym typeface="Microsoft JhengHei"/>
              </a:rPr>
              <a:t>結構與原本一致：</a:t>
            </a:r>
            <a:r>
              <a:rPr b="1" lang="zh-TW" sz="1900">
                <a:solidFill>
                  <a:srgbClr val="1880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A_training_1_proc/&lt;晶向&gt;/&lt;lot&gt;/images, labels</a:t>
            </a:r>
            <a:r>
              <a:rPr b="1" lang="zh-TW" sz="1900">
                <a:latin typeface="Microsoft JhengHei"/>
                <a:ea typeface="Microsoft JhengHei"/>
                <a:cs typeface="Microsoft JhengHei"/>
                <a:sym typeface="Microsoft JhengHei"/>
              </a:rPr>
              <a:t>。</a:t>
            </a:r>
            <a:endParaRPr b="1" sz="19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900">
                <a:latin typeface="Microsoft JhengHei"/>
                <a:ea typeface="Microsoft JhengHei"/>
                <a:cs typeface="Microsoft JhengHei"/>
                <a:sym typeface="Microsoft JhengHei"/>
              </a:rPr>
              <a:t>成效：</a:t>
            </a:r>
            <a:endParaRPr b="1" sz="19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9250" lvl="0" marL="4572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Font typeface="Microsoft JhengHei"/>
              <a:buChar char="●"/>
            </a:pPr>
            <a:r>
              <a:rPr b="1" lang="zh-TW" sz="1900">
                <a:latin typeface="Microsoft JhengHei"/>
                <a:ea typeface="Microsoft JhengHei"/>
                <a:cs typeface="Microsoft JhengHei"/>
                <a:sym typeface="Microsoft JhengHei"/>
              </a:rPr>
              <a:t>模型看到的畫面幾乎都是晶體 + 線條，背景干擾大幅減少，為後續對比增強打好基礎。</a:t>
            </a:r>
            <a:endParaRPr b="1" sz="19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7bafba918_1_5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Microsoft JhengHei"/>
              <a:buNone/>
            </a:pPr>
            <a:r>
              <a:rPr b="1" lang="zh-TW">
                <a:solidFill>
                  <a:srgbClr val="C00000"/>
                </a:solidFill>
              </a:rPr>
              <a:t>一、資料前處理</a:t>
            </a:r>
            <a:r>
              <a:rPr lang="zh-TW"/>
              <a:t>(</a:t>
            </a:r>
            <a:r>
              <a:rPr lang="zh-TW"/>
              <a:t>整理成 dataset_v2</a:t>
            </a:r>
            <a:r>
              <a:rPr lang="zh-TW"/>
              <a:t>)</a:t>
            </a:r>
            <a:endParaRPr b="1">
              <a:solidFill>
                <a:srgbClr val="C00000"/>
              </a:solidFill>
            </a:endParaRPr>
          </a:p>
        </p:txBody>
      </p:sp>
      <p:sp>
        <p:nvSpPr>
          <p:cNvPr id="112" name="Google Shape;112;g3a7bafba918_1_51"/>
          <p:cNvSpPr txBox="1"/>
          <p:nvPr/>
        </p:nvSpPr>
        <p:spPr>
          <a:xfrm>
            <a:off x="1002600" y="1592408"/>
            <a:ext cx="10515600" cy="4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 sz="1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官方提供了 train/val 的 lot 名單（如 train_lots.txt, val_lots.txt）。使用這些 lot 名單，將 </a:t>
            </a:r>
            <a:r>
              <a:rPr b="1" lang="zh-TW" sz="1900">
                <a:solidFill>
                  <a:srgbClr val="1880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A_training_1_proc</a:t>
            </a:r>
            <a:r>
              <a:rPr b="1" lang="zh-TW" sz="1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重新整理成 YOLO 標準資料集：</a:t>
            </a:r>
            <a:endParaRPr b="1" sz="1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zh-TW" sz="1900">
                <a:solidFill>
                  <a:srgbClr val="1880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dataset_v2/images/train</a:t>
            </a:r>
            <a:r>
              <a:rPr b="1" lang="zh-TW" sz="1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, </a:t>
            </a:r>
            <a:r>
              <a:rPr b="1" lang="zh-TW" sz="1900">
                <a:solidFill>
                  <a:srgbClr val="1880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dataset_v2/labels/train</a:t>
            </a:r>
            <a:endParaRPr b="1" sz="1900">
              <a:solidFill>
                <a:srgbClr val="188038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zh-TW" sz="1900">
                <a:solidFill>
                  <a:srgbClr val="1880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dataset_v2/images/val</a:t>
            </a:r>
            <a:r>
              <a:rPr b="1" lang="zh-TW" sz="1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, </a:t>
            </a:r>
            <a:r>
              <a:rPr b="1" lang="zh-TW" sz="1900">
                <a:solidFill>
                  <a:srgbClr val="1880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dataset_v2/labels/val</a:t>
            </a:r>
            <a:endParaRPr b="1" sz="1900">
              <a:solidFill>
                <a:srgbClr val="188038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 sz="1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優點：</a:t>
            </a:r>
            <a:endParaRPr b="1" sz="1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zh-TW" sz="1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與 Ultralytics YOLO 的 </a:t>
            </a:r>
            <a:r>
              <a:rPr b="1" lang="zh-TW" sz="1900">
                <a:solidFill>
                  <a:srgbClr val="1880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data.yaml</a:t>
            </a:r>
            <a:r>
              <a:rPr b="1" lang="zh-TW" sz="1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結構完全相容。</a:t>
            </a:r>
            <a:endParaRPr b="1" sz="1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icrosoft JhengHei"/>
              <a:buChar char="●"/>
            </a:pPr>
            <a:r>
              <a:rPr b="1" lang="zh-TW" sz="1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方便之後用同一套 data 配置切換不同模型、不同前處理版本比較。</a:t>
            </a:r>
            <a:endParaRPr b="1" sz="19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7bafba918_1_60"/>
          <p:cNvSpPr txBox="1"/>
          <p:nvPr>
            <p:ph type="title"/>
          </p:nvPr>
        </p:nvSpPr>
        <p:spPr>
          <a:xfrm>
            <a:off x="838200" y="365125"/>
            <a:ext cx="107751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Microsoft JhengHei"/>
              <a:buNone/>
            </a:pPr>
            <a:r>
              <a:rPr b="1" lang="zh-TW">
                <a:solidFill>
                  <a:srgbClr val="C00000"/>
                </a:solidFill>
              </a:rPr>
              <a:t>一、資料前處理</a:t>
            </a:r>
            <a:r>
              <a:rPr lang="zh-TW"/>
              <a:t>(</a:t>
            </a:r>
            <a:r>
              <a:rPr lang="zh-TW"/>
              <a:t>gamma + CLAHE → dataset_v2_gamma_clahe</a:t>
            </a:r>
            <a:r>
              <a:rPr lang="zh-TW"/>
              <a:t>)</a:t>
            </a:r>
            <a:endParaRPr b="1">
              <a:solidFill>
                <a:srgbClr val="C00000"/>
              </a:solidFill>
            </a:endParaRPr>
          </a:p>
        </p:txBody>
      </p:sp>
      <p:sp>
        <p:nvSpPr>
          <p:cNvPr id="118" name="Google Shape;118;g3a7bafba918_1_60"/>
          <p:cNvSpPr txBox="1"/>
          <p:nvPr/>
        </p:nvSpPr>
        <p:spPr>
          <a:xfrm>
            <a:off x="1002600" y="1592400"/>
            <a:ext cx="10515600" cy="48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 sz="1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問題：就算裁切，只用原圖訓練 crack 不夠明顯。</a:t>
            </a:r>
            <a:br>
              <a:rPr b="1" lang="zh-TW" sz="1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b="1" lang="zh-TW" sz="1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做法：</a:t>
            </a:r>
            <a:r>
              <a:rPr b="1" lang="zh-TW" sz="1900">
                <a:solidFill>
                  <a:srgbClr val="1880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preprocess_dataset_v2_gamma_clahe.py</a:t>
            </a:r>
            <a:endParaRPr b="1" sz="1900">
              <a:solidFill>
                <a:srgbClr val="188038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92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icrosoft JhengHei"/>
              <a:buChar char="●"/>
            </a:pPr>
            <a:r>
              <a:rPr b="1" lang="zh-TW" sz="1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來源：</a:t>
            </a:r>
            <a:r>
              <a:rPr b="1" lang="zh-TW" sz="1900">
                <a:solidFill>
                  <a:srgbClr val="1880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dataset_v2</a:t>
            </a:r>
            <a:endParaRPr b="1" sz="1900">
              <a:solidFill>
                <a:srgbClr val="188038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92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icrosoft JhengHei"/>
              <a:buChar char="●"/>
            </a:pPr>
            <a:r>
              <a:rPr b="1" lang="zh-TW" sz="1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對每張圖的處理</a:t>
            </a:r>
            <a:endParaRPr b="1" sz="1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92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icrosoft JhengHei"/>
              <a:buChar char="○"/>
            </a:pPr>
            <a:r>
              <a:rPr b="1" lang="zh-TW" sz="1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轉灰</a:t>
            </a:r>
            <a:r>
              <a:rPr b="1" lang="zh-TW" sz="1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階。</a:t>
            </a:r>
            <a:endParaRPr b="1" sz="1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92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icrosoft JhengHei"/>
              <a:buChar char="○"/>
            </a:pPr>
            <a:r>
              <a:rPr b="1" lang="zh-TW" sz="1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gamma 校正（如 γ=0.8）</a:t>
            </a:r>
            <a:endParaRPr b="1" sz="1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9250" lvl="2" marL="13716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icrosoft JhengHei"/>
              <a:buChar char="■"/>
            </a:pPr>
            <a:r>
              <a:rPr b="1" lang="zh-TW" sz="1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讓暗區細節變亮一點，crack 比較浮出來。</a:t>
            </a:r>
            <a:endParaRPr b="1" sz="1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92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icrosoft JhengHei"/>
              <a:buChar char="○"/>
            </a:pPr>
            <a:r>
              <a:rPr b="1" lang="zh-TW" sz="1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使用 CLAH</a:t>
            </a:r>
            <a:r>
              <a:rPr b="1" lang="zh-TW" sz="1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E（局部直方圖等化）</a:t>
            </a:r>
            <a:endParaRPr b="1" sz="1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9250" lvl="2" marL="13716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icrosoft JhengHei"/>
              <a:buChar char="■"/>
            </a:pPr>
            <a:r>
              <a:rPr b="1" lang="zh-TW" sz="1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提升局部對比，避免整張過曝。</a:t>
            </a:r>
            <a:endParaRPr b="1" sz="1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92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icrosoft JhengHei"/>
              <a:buChar char="○"/>
            </a:pPr>
            <a:r>
              <a:rPr b="1" lang="zh-TW" sz="1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輸出到 </a:t>
            </a:r>
            <a:r>
              <a:rPr b="1" lang="zh-TW" sz="1900">
                <a:solidFill>
                  <a:srgbClr val="1880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dataset_v2_gamma_clahe</a:t>
            </a:r>
            <a:r>
              <a:rPr b="1" lang="zh-TW" sz="1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。</a:t>
            </a:r>
            <a:endParaRPr b="1" sz="1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92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icrosoft JhengHei"/>
              <a:buChar char="○"/>
            </a:pPr>
            <a:r>
              <a:rPr b="1" lang="zh-TW" sz="1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標籤 .txt 完整複製，不改變座標。</a:t>
            </a:r>
            <a:endParaRPr b="1" sz="1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92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icrosoft JhengHei"/>
              <a:buChar char="●"/>
            </a:pPr>
            <a:r>
              <a:rPr b="1" lang="zh-TW" sz="1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效果：</a:t>
            </a:r>
            <a:endParaRPr b="1" sz="1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92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icrosoft JhengHei"/>
              <a:buChar char="○"/>
            </a:pPr>
            <a:r>
              <a:rPr b="1" lang="zh-TW" sz="1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晶體上的細線條變得明顯，crack 更容易被看到。</a:t>
            </a:r>
            <a:endParaRPr b="1" sz="1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92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icrosoft JhengHei"/>
              <a:buChar char="●"/>
            </a:pPr>
            <a:r>
              <a:rPr b="1" lang="zh-TW" sz="1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同時也建立了 </a:t>
            </a:r>
            <a:r>
              <a:rPr b="1" lang="zh-TW" sz="1900">
                <a:solidFill>
                  <a:srgbClr val="1880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dataset_v2_gamma_clahe_all</a:t>
            </a:r>
            <a:r>
              <a:rPr b="1" lang="zh-TW" sz="1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</a:t>
            </a:r>
            <a:endParaRPr b="1" sz="1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92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icrosoft JhengHei"/>
              <a:buChar char="○"/>
            </a:pPr>
            <a:r>
              <a:rPr b="1" lang="zh-TW" sz="1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把原本 train + val 合併當全量訓練資料，用於訓練最終版模型。</a:t>
            </a:r>
            <a:endParaRPr b="1" sz="1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7bafba918_1_2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Times New Roman"/>
              <a:buNone/>
            </a:pPr>
            <a:r>
              <a:rPr lang="zh-TW">
                <a:solidFill>
                  <a:srgbClr val="C00000"/>
                </a:solidFill>
              </a:rPr>
              <a:t>二、演算法和模型介紹</a:t>
            </a:r>
            <a:r>
              <a:rPr lang="zh-TW"/>
              <a:t>（YOLOv8 選擇）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124" name="Google Shape;124;g3a7bafba918_1_28"/>
          <p:cNvSpPr txBox="1"/>
          <p:nvPr/>
        </p:nvSpPr>
        <p:spPr>
          <a:xfrm>
            <a:off x="754275" y="1386708"/>
            <a:ext cx="10515600" cy="4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latin typeface="Microsoft JhengHei"/>
                <a:ea typeface="Microsoft JhengHei"/>
                <a:cs typeface="Microsoft JhengHei"/>
                <a:sym typeface="Microsoft JhengHei"/>
              </a:rPr>
              <a:t>實驗一：YOLOv8n + 原始 </a:t>
            </a:r>
            <a:r>
              <a:rPr b="1" lang="zh-TW" sz="1800">
                <a:solidFill>
                  <a:srgbClr val="1880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dataset_v2</a:t>
            </a:r>
            <a:r>
              <a:rPr b="1" lang="zh-TW" sz="1800">
                <a:latin typeface="Microsoft JhengHei"/>
                <a:ea typeface="Microsoft JhengHei"/>
                <a:cs typeface="Microsoft JhengHei"/>
                <a:sym typeface="Microsoft JhengHei"/>
              </a:rPr>
              <a:t>（baseline）</a:t>
            </a:r>
            <a:endParaRPr b="1" sz="1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●"/>
            </a:pPr>
            <a:r>
              <a:rPr b="1" lang="zh-TW" sz="1800">
                <a:latin typeface="Microsoft JhengHei"/>
                <a:ea typeface="Microsoft JhengHei"/>
                <a:cs typeface="Microsoft JhengHei"/>
                <a:sym typeface="Microsoft JhengHei"/>
              </a:rPr>
              <a:t>僅使用官方整理的資料與基本增強</a:t>
            </a:r>
            <a:endParaRPr b="1" sz="1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●"/>
            </a:pPr>
            <a:r>
              <a:rPr b="1" lang="zh-TW" sz="1800">
                <a:latin typeface="Microsoft JhengHei"/>
                <a:ea typeface="Microsoft JhengHei"/>
                <a:cs typeface="Microsoft JhengHei"/>
                <a:sym typeface="Microsoft JhengHei"/>
              </a:rPr>
              <a:t>整體 mAP 與 recall 偏低，對低對比裂痕較不敏感</a:t>
            </a:r>
            <a:endParaRPr b="1" sz="1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●"/>
            </a:pPr>
            <a:r>
              <a:rPr b="1" lang="zh-TW" sz="1800">
                <a:latin typeface="Microsoft JhengHei"/>
                <a:ea typeface="Microsoft JhengHei"/>
                <a:cs typeface="Microsoft JhengHei"/>
                <a:sym typeface="Microsoft JhengHei"/>
              </a:rPr>
              <a:t>作為後續前處理與模型調整的比較基準</a:t>
            </a:r>
            <a:endParaRPr b="1" sz="1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 sz="1800">
                <a:latin typeface="Microsoft JhengHei"/>
                <a:ea typeface="Microsoft JhengHei"/>
                <a:cs typeface="Microsoft JhengHei"/>
                <a:sym typeface="Microsoft JhengHei"/>
              </a:rPr>
              <a:t>實驗二：YOLOv8n + 裁切 + CLAHE（dataset_v2_clahe）</a:t>
            </a:r>
            <a:endParaRPr b="1" sz="1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●"/>
            </a:pPr>
            <a:r>
              <a:rPr b="1" lang="zh-TW" sz="1800">
                <a:latin typeface="Microsoft JhengHei"/>
                <a:ea typeface="Microsoft JhengHei"/>
                <a:cs typeface="Microsoft JhengHei"/>
                <a:sym typeface="Microsoft JhengHei"/>
              </a:rPr>
              <a:t>加入晶體區域裁切與 CLAHE 對比強化</a:t>
            </a:r>
            <a:endParaRPr b="1" sz="1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●"/>
            </a:pPr>
            <a:r>
              <a:rPr b="1" lang="zh-TW" sz="1800">
                <a:latin typeface="Microsoft JhengHei"/>
                <a:ea typeface="Microsoft JhengHei"/>
                <a:cs typeface="Microsoft JhengHei"/>
                <a:sym typeface="Microsoft JhengHei"/>
              </a:rPr>
              <a:t>相比 baseline，mAP50 與 recall 明顯提升</a:t>
            </a:r>
            <a:endParaRPr b="1" sz="1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●"/>
            </a:pPr>
            <a:r>
              <a:rPr b="1" lang="zh-TW" sz="1800">
                <a:latin typeface="Microsoft JhengHei"/>
                <a:ea typeface="Microsoft JhengHei"/>
                <a:cs typeface="Microsoft JhengHei"/>
                <a:sym typeface="Microsoft JhengHei"/>
              </a:rPr>
              <a:t>證實「聚焦晶體區域」及「強化紋理對比」是有效的前處理方向</a:t>
            </a:r>
            <a:endParaRPr b="1" sz="1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 sz="1800">
                <a:latin typeface="Microsoft JhengHei"/>
                <a:ea typeface="Microsoft JhengHei"/>
                <a:cs typeface="Microsoft JhengHei"/>
                <a:sym typeface="Microsoft JhengHei"/>
              </a:rPr>
              <a:t>小結</a:t>
            </a:r>
            <a:endParaRPr b="1" sz="1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●"/>
            </a:pPr>
            <a:r>
              <a:rPr b="1" lang="zh-TW" sz="1800">
                <a:latin typeface="Microsoft JhengHei"/>
                <a:ea typeface="Microsoft JhengHei"/>
                <a:cs typeface="Microsoft JhengHei"/>
                <a:sym typeface="Microsoft JhengHei"/>
              </a:rPr>
              <a:t>物件偵測架構適用於本題</a:t>
            </a:r>
            <a:endParaRPr b="1" sz="1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●"/>
            </a:pPr>
            <a:r>
              <a:rPr b="1" lang="zh-TW" sz="1800">
                <a:latin typeface="Microsoft JhengHei"/>
                <a:ea typeface="Microsoft JhengHei"/>
                <a:cs typeface="Microsoft JhengHei"/>
                <a:sym typeface="Microsoft JhengHei"/>
              </a:rPr>
              <a:t>透過前處理，模型已能更穩定捕捉裂痕位置</a:t>
            </a:r>
            <a:endParaRPr b="1" sz="1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●"/>
            </a:pPr>
            <a:r>
              <a:rPr b="1" lang="zh-TW" sz="1800">
                <a:latin typeface="Microsoft JhengHei"/>
                <a:ea typeface="Microsoft JhengHei"/>
                <a:cs typeface="Microsoft JhengHei"/>
                <a:sym typeface="Microsoft JhengHei"/>
              </a:rPr>
              <a:t>下一步改採 YOLOv8m 並加入 gamma 校正，進一步提升性能</a:t>
            </a:r>
            <a:endParaRPr b="1" sz="1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9fea4c5d5_1_3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Times New Roman"/>
              <a:buNone/>
            </a:pPr>
            <a:r>
              <a:rPr lang="zh-TW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二、演算法和模型介紹</a:t>
            </a:r>
            <a:r>
              <a:rPr lang="zh-TW"/>
              <a:t>（YOLOv8 選擇）</a:t>
            </a:r>
            <a:endParaRPr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g399fea4c5d5_1_38"/>
          <p:cNvSpPr txBox="1"/>
          <p:nvPr/>
        </p:nvSpPr>
        <p:spPr>
          <a:xfrm>
            <a:off x="634950" y="1485900"/>
            <a:ext cx="10922100" cy="46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icrosoft JhengHei"/>
              <a:buChar char="●"/>
            </a:pPr>
            <a:r>
              <a:rPr b="1" lang="zh-TW" sz="1600">
                <a:latin typeface="Microsoft JhengHei"/>
                <a:ea typeface="Microsoft JhengHei"/>
                <a:cs typeface="Microsoft JhengHei"/>
                <a:sym typeface="Microsoft JhengHei"/>
              </a:rPr>
              <a:t>實驗三：YOLOv8m + gamma + CLAHE（</a:t>
            </a:r>
            <a:r>
              <a:rPr b="1" lang="zh-TW" sz="1600">
                <a:solidFill>
                  <a:srgbClr val="1880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dataset_v2_gamma_clahe</a:t>
            </a:r>
            <a:r>
              <a:rPr b="1" lang="zh-TW" sz="1600">
                <a:latin typeface="Microsoft JhengHei"/>
                <a:ea typeface="Microsoft JhengHei"/>
                <a:cs typeface="Microsoft JhengHei"/>
                <a:sym typeface="Microsoft JhengHei"/>
              </a:rPr>
              <a:t>，train/val 分開）</a:t>
            </a:r>
            <a:endParaRPr b="1" sz="16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icrosoft JhengHei"/>
              <a:buChar char="○"/>
            </a:pPr>
            <a:r>
              <a:rPr b="1" lang="zh-TW" sz="1600">
                <a:latin typeface="Microsoft JhengHei"/>
                <a:ea typeface="Microsoft JhengHei"/>
                <a:cs typeface="Microsoft JhengHei"/>
                <a:sym typeface="Microsoft JhengHei"/>
              </a:rPr>
              <a:t>使用 gamma 校正 + CLAHE 的前處理，並維持原有 lot-based train/val 切分</a:t>
            </a:r>
            <a:endParaRPr b="1" sz="16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icrosoft JhengHei"/>
              <a:buChar char="○"/>
            </a:pPr>
            <a:r>
              <a:rPr b="1" lang="zh-TW" sz="1600">
                <a:latin typeface="Microsoft JhengHei"/>
                <a:ea typeface="Microsoft JhengHei"/>
                <a:cs typeface="Microsoft JhengHei"/>
                <a:sym typeface="Microsoft JhengHei"/>
              </a:rPr>
              <a:t>在獨立驗證集上的指標約為：</a:t>
            </a:r>
            <a:endParaRPr b="1" sz="16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icrosoft JhengHei"/>
              <a:buChar char="■"/>
            </a:pPr>
            <a:r>
              <a:rPr b="1" lang="zh-TW" sz="1600">
                <a:latin typeface="Microsoft JhengHei"/>
                <a:ea typeface="Microsoft JhengHei"/>
                <a:cs typeface="Microsoft JhengHei"/>
                <a:sym typeface="Microsoft JhengHei"/>
              </a:rPr>
              <a:t>precision 約 0.75</a:t>
            </a:r>
            <a:endParaRPr b="1" sz="16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icrosoft JhengHei"/>
              <a:buChar char="■"/>
            </a:pPr>
            <a:r>
              <a:rPr b="1" lang="zh-TW" sz="1600">
                <a:latin typeface="Microsoft JhengHei"/>
                <a:ea typeface="Microsoft JhengHei"/>
                <a:cs typeface="Microsoft JhengHei"/>
                <a:sym typeface="Microsoft JhengHei"/>
              </a:rPr>
              <a:t>recall 約 0.65</a:t>
            </a:r>
            <a:endParaRPr b="1" sz="16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icrosoft JhengHei"/>
              <a:buChar char="■"/>
            </a:pPr>
            <a:r>
              <a:rPr b="1" lang="zh-TW" sz="1600">
                <a:latin typeface="Microsoft JhengHei"/>
                <a:ea typeface="Microsoft JhengHei"/>
                <a:cs typeface="Microsoft JhengHei"/>
                <a:sym typeface="Microsoft JhengHei"/>
              </a:rPr>
              <a:t>mAP50 約 0.71	</a:t>
            </a:r>
            <a:endParaRPr b="1" sz="16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icrosoft JhengHei"/>
              <a:buChar char="■"/>
            </a:pPr>
            <a:r>
              <a:rPr b="1" lang="zh-TW" sz="1600">
                <a:latin typeface="Microsoft JhengHei"/>
                <a:ea typeface="Microsoft JhengHei"/>
                <a:cs typeface="Microsoft JhengHei"/>
                <a:sym typeface="Microsoft JhengHei"/>
              </a:rPr>
              <a:t>mAP50–95 約 0.28</a:t>
            </a:r>
            <a:endParaRPr b="1" sz="16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icrosoft JhengHei"/>
              <a:buChar char="○"/>
            </a:pPr>
            <a:r>
              <a:rPr b="1" lang="zh-TW" sz="1600">
                <a:latin typeface="Microsoft JhengHei"/>
                <a:ea typeface="Microsoft JhengHei"/>
                <a:cs typeface="Microsoft JhengHei"/>
                <a:sym typeface="Microsoft JhengHei"/>
              </a:rPr>
              <a:t>相比 YOLOv8n 與僅 CLAHE 的版本，在偵測精度與召回率上都有穩定提升</a:t>
            </a:r>
            <a:br>
              <a:rPr b="1" lang="zh-TW" sz="1600"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endParaRPr b="1" sz="16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icrosoft JhengHei"/>
              <a:buChar char="●"/>
            </a:pPr>
            <a:r>
              <a:rPr b="1" lang="zh-TW" sz="1600">
                <a:solidFill>
                  <a:srgbClr val="C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最終模型</a:t>
            </a:r>
            <a:r>
              <a:rPr b="1" lang="zh-TW" sz="1600">
                <a:latin typeface="Microsoft JhengHei"/>
                <a:ea typeface="Microsoft JhengHei"/>
                <a:cs typeface="Microsoft JhengHei"/>
                <a:sym typeface="Microsoft JhengHei"/>
              </a:rPr>
              <a:t>：YOLOv8m + gamma + CLAHE + 全資料訓練（</a:t>
            </a:r>
            <a:r>
              <a:rPr b="1" lang="zh-TW" sz="1600">
                <a:solidFill>
                  <a:srgbClr val="1880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data_v2_gamma_clahe_all</a:t>
            </a:r>
            <a:r>
              <a:rPr b="1" lang="zh-TW" sz="1600">
                <a:latin typeface="Microsoft JhengHei"/>
                <a:ea typeface="Microsoft JhengHei"/>
                <a:cs typeface="Microsoft JhengHei"/>
                <a:sym typeface="Microsoft JhengHei"/>
              </a:rPr>
              <a:t>）</a:t>
            </a:r>
            <a:endParaRPr b="1" sz="16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icrosoft JhengHei"/>
              <a:buChar char="○"/>
            </a:pPr>
            <a:r>
              <a:rPr b="1" lang="zh-TW" sz="1600">
                <a:latin typeface="Microsoft JhengHei"/>
                <a:ea typeface="Microsoft JhengHei"/>
                <a:cs typeface="Microsoft JhengHei"/>
                <a:sym typeface="Microsoft JhengHei"/>
              </a:rPr>
              <a:t>在確定模型與前處理設定後，將原本的 train 與 val 全部合併重新訓練 40 個 epoch</a:t>
            </a:r>
            <a:endParaRPr b="1" sz="16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icrosoft JhengHei"/>
              <a:buChar char="○"/>
            </a:pPr>
            <a:r>
              <a:rPr b="1" lang="zh-TW" sz="1600">
                <a:latin typeface="Microsoft JhengHei"/>
                <a:ea typeface="Microsoft JhengHei"/>
                <a:cs typeface="Microsoft JhengHei"/>
                <a:sym typeface="Microsoft JhengHei"/>
              </a:rPr>
              <a:t>在全部標註影像上的自我評估結果為：</a:t>
            </a:r>
            <a:endParaRPr b="1" sz="16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icrosoft JhengHei"/>
              <a:buChar char="■"/>
            </a:pPr>
            <a:r>
              <a:rPr b="1" lang="zh-TW" sz="1600">
                <a:latin typeface="Microsoft JhengHei"/>
                <a:ea typeface="Microsoft JhengHei"/>
                <a:cs typeface="Microsoft JhengHei"/>
                <a:sym typeface="Microsoft JhengHei"/>
              </a:rPr>
              <a:t>precision 約 0.80</a:t>
            </a:r>
            <a:endParaRPr b="1" sz="16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icrosoft JhengHei"/>
              <a:buChar char="■"/>
            </a:pPr>
            <a:r>
              <a:rPr b="1" lang="zh-TW" sz="1600">
                <a:latin typeface="Microsoft JhengHei"/>
                <a:ea typeface="Microsoft JhengHei"/>
                <a:cs typeface="Microsoft JhengHei"/>
                <a:sym typeface="Microsoft JhengHei"/>
              </a:rPr>
              <a:t>recall 約 0.80</a:t>
            </a:r>
            <a:endParaRPr b="1" sz="16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icrosoft JhengHei"/>
              <a:buChar char="■"/>
            </a:pPr>
            <a:r>
              <a:rPr b="1" lang="zh-TW" sz="1600">
                <a:latin typeface="Microsoft JhengHei"/>
                <a:ea typeface="Microsoft JhengHei"/>
                <a:cs typeface="Microsoft JhengHei"/>
                <a:sym typeface="Microsoft JhengHei"/>
              </a:rPr>
              <a:t>mAP50 約 0.84</a:t>
            </a:r>
            <a:endParaRPr b="1" sz="16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icrosoft JhengHei"/>
              <a:buChar char="■"/>
            </a:pPr>
            <a:r>
              <a:rPr b="1" lang="zh-TW" sz="1600">
                <a:latin typeface="Microsoft JhengHei"/>
                <a:ea typeface="Microsoft JhengHei"/>
                <a:cs typeface="Microsoft JhengHei"/>
                <a:sym typeface="Microsoft JhengHei"/>
              </a:rPr>
              <a:t>mAP50–95 約 0.38</a:t>
            </a:r>
            <a:endParaRPr b="1" sz="16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9fea4c5d5_1_32"/>
          <p:cNvSpPr txBox="1"/>
          <p:nvPr>
            <p:ph type="title"/>
          </p:nvPr>
        </p:nvSpPr>
        <p:spPr>
          <a:xfrm>
            <a:off x="685800" y="365125"/>
            <a:ext cx="11715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Times New Roman"/>
              <a:buNone/>
            </a:pPr>
            <a:r>
              <a:rPr lang="zh-TW">
                <a:solidFill>
                  <a:srgbClr val="C00000"/>
                </a:solidFill>
              </a:rPr>
              <a:t>二、</a:t>
            </a:r>
            <a:r>
              <a:rPr lang="zh-TW">
                <a:solidFill>
                  <a:srgbClr val="C00000"/>
                </a:solidFill>
              </a:rPr>
              <a:t>演</a:t>
            </a:r>
            <a:r>
              <a:rPr lang="zh-TW">
                <a:solidFill>
                  <a:srgbClr val="C00000"/>
                </a:solidFill>
              </a:rPr>
              <a:t>算法和模型介紹</a:t>
            </a:r>
            <a:r>
              <a:rPr lang="zh-TW"/>
              <a:t>（</a:t>
            </a:r>
            <a:r>
              <a:rPr lang="zh-TW"/>
              <a:t>YOLOv8m 訓練設定</a:t>
            </a:r>
            <a:r>
              <a:rPr lang="zh-TW"/>
              <a:t>）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136" name="Google Shape;136;g399fea4c5d5_1_32"/>
          <p:cNvSpPr txBox="1"/>
          <p:nvPr/>
        </p:nvSpPr>
        <p:spPr>
          <a:xfrm>
            <a:off x="766975" y="1475600"/>
            <a:ext cx="10891500" cy="51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使用模型：</a:t>
            </a:r>
            <a:r>
              <a:rPr b="1" lang="zh-TW" sz="1500">
                <a:solidFill>
                  <a:srgbClr val="1880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yolov8m.pt</a:t>
            </a:r>
            <a:r>
              <a:rPr b="1" lang="zh-TW" sz="15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。</a:t>
            </a:r>
            <a:endParaRPr b="1" sz="15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訓練資料：</a:t>
            </a:r>
            <a:endParaRPr b="1" sz="16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zh-TW" sz="15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先用 </a:t>
            </a:r>
            <a:r>
              <a:rPr b="1" lang="zh-TW" sz="1500">
                <a:solidFill>
                  <a:srgbClr val="1880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dataset_v2_gamma_clahe</a:t>
            </a:r>
            <a:r>
              <a:rPr b="1" lang="zh-TW" sz="15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做實驗、調參。</a:t>
            </a:r>
            <a:endParaRPr b="1" sz="15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zh-TW" sz="15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確認方向後，最終用 </a:t>
            </a:r>
            <a:r>
              <a:rPr b="1" lang="zh-TW" sz="1500">
                <a:solidFill>
                  <a:srgbClr val="1880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dataset_v2_gamma_clahe_all</a:t>
            </a:r>
            <a:r>
              <a:rPr b="1" lang="zh-TW" sz="15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（合併 train+val）訓練 40 epochs。</a:t>
            </a:r>
            <a:endParaRPr b="1" sz="15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主要參數：</a:t>
            </a:r>
            <a:endParaRPr b="1" sz="16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icrosoft JhengHei"/>
              <a:buChar char="●"/>
            </a:pPr>
            <a:r>
              <a:rPr b="1" lang="zh-TW" sz="15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epochs = 40（考慮實際可用時間與收斂情況）</a:t>
            </a:r>
            <a:endParaRPr b="1" sz="15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icrosoft JhengHei"/>
              <a:buChar char="●"/>
            </a:pPr>
            <a:r>
              <a:rPr b="1" lang="zh-TW" sz="15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imgsz = 640</a:t>
            </a:r>
            <a:endParaRPr b="1" sz="15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icrosoft JhengHei"/>
              <a:buChar char="●"/>
            </a:pPr>
            <a:r>
              <a:rPr b="1" lang="zh-TW" sz="15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batch = 自動搜尋（AutoBatch）</a:t>
            </a:r>
            <a:endParaRPr b="1" sz="15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icrosoft JhengHei"/>
              <a:buChar char="●"/>
            </a:pPr>
            <a:r>
              <a:rPr b="1" lang="zh-TW" sz="15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workers = 0（避免在這台機器上觸發 affinity 相關錯誤）</a:t>
            </a:r>
            <a:endParaRPr b="1" sz="15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icrosoft JhengHei"/>
              <a:buChar char="●"/>
            </a:pPr>
            <a:r>
              <a:rPr b="1" lang="zh-TW" sz="15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其他 augmentation（翻轉、縮放等）沿用 Ultralytics 預設。</a:t>
            </a:r>
            <a:endParaRPr b="1" sz="15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訓練過程紀錄：</a:t>
            </a:r>
            <a:endParaRPr b="1" sz="16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zh-TW" sz="15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log 檔：</a:t>
            </a:r>
            <a:r>
              <a:rPr b="1" lang="zh-TW" sz="1500">
                <a:solidFill>
                  <a:srgbClr val="1880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train_v3m_gamma_clahe_all.log</a:t>
            </a:r>
            <a:endParaRPr b="1" sz="1500">
              <a:solidFill>
                <a:srgbClr val="188038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zh-TW" sz="15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輸出目錄：</a:t>
            </a:r>
            <a:r>
              <a:rPr b="1" lang="zh-TW" sz="1500">
                <a:solidFill>
                  <a:srgbClr val="1880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runs/detect/train_v3m_gamma_clahe_all</a:t>
            </a:r>
            <a:endParaRPr b="1" sz="1500">
              <a:solidFill>
                <a:srgbClr val="188038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zh-TW" sz="15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最佳權重：</a:t>
            </a:r>
            <a:r>
              <a:rPr b="1" lang="zh-TW" sz="1500">
                <a:solidFill>
                  <a:srgbClr val="1880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runs/detect/train_v3m_gamma_clahe_all/weights/best.pt</a:t>
            </a:r>
            <a:endParaRPr b="1" sz="1500">
              <a:solidFill>
                <a:srgbClr val="188038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zh-TW" sz="15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決賽前將其複製為：</a:t>
            </a:r>
            <a:r>
              <a:rPr b="1" lang="zh-TW" sz="1500">
                <a:solidFill>
                  <a:srgbClr val="1880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/home/114080/final_yolov8m_gamma_clahe_best.pt</a:t>
            </a:r>
            <a:r>
              <a:rPr b="1" lang="zh-TW" sz="15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。</a:t>
            </a:r>
            <a:endParaRPr b="1" sz="15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9fea4c5d5_1_4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Times New Roman"/>
              <a:buNone/>
            </a:pPr>
            <a:r>
              <a:rPr b="1" lang="zh-TW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二、</a:t>
            </a:r>
            <a:r>
              <a:rPr lang="zh-TW"/>
              <a:t>資料提交</a:t>
            </a:r>
            <a:r>
              <a:rPr lang="zh-TW"/>
              <a:t>（內容大綱）</a:t>
            </a:r>
            <a:endParaRPr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g399fea4c5d5_1_44"/>
          <p:cNvSpPr txBox="1"/>
          <p:nvPr/>
        </p:nvSpPr>
        <p:spPr>
          <a:xfrm>
            <a:off x="754275" y="1386700"/>
            <a:ext cx="10515600" cy="49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測試資料：</a:t>
            </a:r>
            <a:r>
              <a:rPr b="1" lang="zh-TW" sz="1600">
                <a:solidFill>
                  <a:srgbClr val="1880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/TOPIC/ProjectA/A_testing</a:t>
            </a:r>
            <a:endParaRPr b="1" sz="1600">
              <a:solidFill>
                <a:srgbClr val="188038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crosoft JhengHei"/>
              <a:buChar char="●"/>
            </a:pPr>
            <a:r>
              <a:rPr b="1" lang="zh-TW" sz="1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結構：</a:t>
            </a:r>
            <a:endParaRPr b="1" sz="16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crosoft JhengHei"/>
              <a:buChar char="○"/>
            </a:pPr>
            <a:r>
              <a:rPr b="1" lang="zh-TW" sz="1600">
                <a:solidFill>
                  <a:srgbClr val="1880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/TOPIC/ProjectA/A_testing/100/&lt;lot&gt;/images/*.jpg</a:t>
            </a:r>
            <a:endParaRPr b="1" sz="1600">
              <a:solidFill>
                <a:srgbClr val="188038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crosoft JhengHei"/>
              <a:buChar char="○"/>
            </a:pPr>
            <a:r>
              <a:rPr b="1" lang="zh-TW" sz="1600">
                <a:solidFill>
                  <a:srgbClr val="1880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/TOPIC/ProjectA/A_testing/111/...</a:t>
            </a:r>
            <a:endParaRPr b="1" sz="1600">
              <a:solidFill>
                <a:srgbClr val="188038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crosoft JhengHei"/>
              <a:buChar char="○"/>
            </a:pPr>
            <a:r>
              <a:rPr b="1" lang="zh-TW" sz="1600">
                <a:solidFill>
                  <a:srgbClr val="1880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/TOPIC/ProjectA/A_testing/776/...</a:t>
            </a:r>
            <a:endParaRPr b="1" sz="1600">
              <a:solidFill>
                <a:srgbClr val="188038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預測輸出：</a:t>
            </a:r>
            <a:endParaRPr b="1" sz="16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zh-TW" sz="1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每張圖都有一個 </a:t>
            </a:r>
            <a:r>
              <a:rPr b="1" lang="zh-TW" sz="1600">
                <a:solidFill>
                  <a:srgbClr val="1880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labels/檔名.txt</a:t>
            </a:r>
            <a:r>
              <a:rPr b="1" lang="zh-TW" sz="1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，內容格式：</a:t>
            </a:r>
            <a:endParaRPr b="1" sz="16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crosoft JhengHei"/>
              <a:buChar char="○"/>
            </a:pPr>
            <a:r>
              <a:rPr b="1" lang="zh-TW" sz="1600">
                <a:solidFill>
                  <a:srgbClr val="1880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class x_center y_center width height</a:t>
            </a:r>
            <a:endParaRPr b="1" sz="1600">
              <a:solidFill>
                <a:srgbClr val="188038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crosoft JhengHei"/>
              <a:buChar char="○"/>
            </a:pPr>
            <a:r>
              <a:rPr b="1" lang="zh-TW" sz="1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class 為 0，後四個為標準化座標。</a:t>
            </a:r>
            <a:endParaRPr b="1" sz="16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最終要交給主辦的結果檔：</a:t>
            </a:r>
            <a:endParaRPr b="1" sz="16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zh-TW" sz="1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檔名：</a:t>
            </a:r>
            <a:r>
              <a:rPr b="1" lang="zh-TW" sz="1600">
                <a:solidFill>
                  <a:srgbClr val="1880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114080_projectA_ans.csv</a:t>
            </a:r>
            <a:endParaRPr b="1" sz="1600">
              <a:solidFill>
                <a:srgbClr val="188038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zh-TW" sz="1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放在：</a:t>
            </a:r>
            <a:r>
              <a:rPr b="1" lang="zh-TW" sz="1600">
                <a:solidFill>
                  <a:srgbClr val="1880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/home/114080/submit/114080_projectA_ans.csv</a:t>
            </a:r>
            <a:endParaRPr b="1" sz="1600">
              <a:solidFill>
                <a:srgbClr val="188038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crosoft JhengHei"/>
              <a:buChar char="●"/>
            </a:pPr>
            <a:r>
              <a:rPr b="1" lang="zh-TW" sz="1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欄位順序：</a:t>
            </a:r>
            <a:endParaRPr b="1" sz="16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crosoft JhengHei"/>
              <a:buChar char="○"/>
            </a:pPr>
            <a:r>
              <a:rPr b="1" lang="zh-TW" sz="1600">
                <a:solidFill>
                  <a:srgbClr val="1880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crystal, lot, filename, class, cx, cy, w, h</a:t>
            </a:r>
            <a:endParaRPr b="1" sz="25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7bafba918_1_7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Times New Roman"/>
              <a:buNone/>
            </a:pPr>
            <a:r>
              <a:rPr b="1" lang="zh-TW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二、</a:t>
            </a:r>
            <a:r>
              <a:rPr lang="zh-TW"/>
              <a:t>資料提交（</a:t>
            </a:r>
            <a:r>
              <a:rPr lang="zh-TW"/>
              <a:t>對 A_testing 跑預測</a:t>
            </a:r>
            <a:r>
              <a:rPr lang="zh-TW"/>
              <a:t>projectA_test_pipeline.py）</a:t>
            </a:r>
            <a:endParaRPr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g3a7bafba918_1_75"/>
          <p:cNvSpPr txBox="1"/>
          <p:nvPr/>
        </p:nvSpPr>
        <p:spPr>
          <a:xfrm>
            <a:off x="754275" y="1742300"/>
            <a:ext cx="10515600" cy="49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 sz="21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目的：</a:t>
            </a:r>
            <a:endParaRPr b="1" sz="21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zh-TW" sz="21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使用 </a:t>
            </a:r>
            <a:r>
              <a:rPr b="1" lang="zh-TW" sz="2100">
                <a:solidFill>
                  <a:srgbClr val="1880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final_yolov8m_gamma_clahe_best.pt</a:t>
            </a:r>
            <a:r>
              <a:rPr b="1" lang="zh-TW" sz="21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對所有 test 影像跑 YOLO，</a:t>
            </a:r>
            <a:br>
              <a:rPr b="1" lang="zh-TW" sz="21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b="1" lang="zh-TW" sz="21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並把每張圖的座標 txt 回寫到對應的 </a:t>
            </a:r>
            <a:r>
              <a:rPr b="1" lang="zh-TW" sz="2100">
                <a:solidFill>
                  <a:srgbClr val="1880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labels</a:t>
            </a:r>
            <a:r>
              <a:rPr b="1" lang="zh-TW" sz="21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資料夾。</a:t>
            </a:r>
            <a:endParaRPr b="1" sz="21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 sz="21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作法：</a:t>
            </a:r>
            <a:endParaRPr b="1" sz="21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b="1" lang="zh-TW" sz="21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讀取 </a:t>
            </a:r>
            <a:r>
              <a:rPr b="1" lang="zh-TW" sz="2100">
                <a:solidFill>
                  <a:srgbClr val="1880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/TOPIC/ProjectA/A_testing</a:t>
            </a:r>
            <a:r>
              <a:rPr b="1" lang="zh-TW" sz="21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下的所有 </a:t>
            </a:r>
            <a:r>
              <a:rPr b="1" lang="zh-TW" sz="2100">
                <a:solidFill>
                  <a:srgbClr val="1880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images/*.jpg</a:t>
            </a:r>
            <a:r>
              <a:rPr b="1" lang="zh-TW" sz="21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。</a:t>
            </a:r>
            <a:endParaRPr b="1" sz="21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icrosoft JhengHei"/>
              <a:buAutoNum type="arabicPeriod"/>
            </a:pPr>
            <a:r>
              <a:rPr b="1" lang="zh-TW" sz="21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呼叫 YOLO CLI：</a:t>
            </a:r>
            <a:endParaRPr b="1" sz="21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icrosoft JhengHei"/>
              <a:buChar char="○"/>
            </a:pPr>
            <a:r>
              <a:rPr b="1" lang="zh-TW" sz="2100">
                <a:solidFill>
                  <a:srgbClr val="1880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yolo predict model=/home/114080/final_yolov8m_gamma_clahe_best.pt source=/TOPIC/ProjectA/A_testing ... save_txt=True</a:t>
            </a:r>
            <a:endParaRPr b="1" sz="2100">
              <a:solidFill>
                <a:srgbClr val="188038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icrosoft JhengHei"/>
              <a:buAutoNum type="arabicPeriod"/>
            </a:pPr>
            <a:r>
              <a:rPr b="1" lang="zh-TW" sz="21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YOLO 會先把 txt 存到暫存資料夾，再由腳本根據檔名，把它們搬回：</a:t>
            </a:r>
            <a:endParaRPr b="1" sz="21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b="1" lang="zh-TW" sz="2100">
                <a:solidFill>
                  <a:srgbClr val="18803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/TOPIC/ProjectA/A_testing/&lt;crystal&gt;/&lt;lot&gt;/labels/同名.txt</a:t>
            </a:r>
            <a:r>
              <a:rPr b="1" lang="zh-TW" sz="21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。</a:t>
            </a:r>
            <a:endParaRPr b="1" sz="21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"/>
          <p:cNvSpPr txBox="1"/>
          <p:nvPr>
            <p:ph type="title"/>
          </p:nvPr>
        </p:nvSpPr>
        <p:spPr>
          <a:xfrm>
            <a:off x="929050" y="23788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Times New Roman"/>
              <a:buNone/>
            </a:pPr>
            <a:r>
              <a:rPr b="1" lang="zh-TW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三、執行環境/套裝選擇/執行方式 </a:t>
            </a:r>
            <a:endParaRPr/>
          </a:p>
        </p:txBody>
      </p:sp>
      <p:sp>
        <p:nvSpPr>
          <p:cNvPr id="154" name="Google Shape;154;p5"/>
          <p:cNvSpPr txBox="1"/>
          <p:nvPr>
            <p:ph idx="1" type="body"/>
          </p:nvPr>
        </p:nvSpPr>
        <p:spPr>
          <a:xfrm>
            <a:off x="929050" y="1284050"/>
            <a:ext cx="10836600" cy="49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800"/>
              <a:t>環境與工具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Microsoft JhengHei"/>
              <a:buChar char="●"/>
            </a:pPr>
            <a:r>
              <a:rPr lang="zh-TW" sz="1800"/>
              <a:t>Python 3.10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icrosoft JhengHei"/>
              <a:buChar char="●"/>
            </a:pPr>
            <a:r>
              <a:rPr lang="zh-TW" sz="1800"/>
              <a:t>PyTorch 2.3.0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icrosoft JhengHei"/>
              <a:buChar char="●"/>
            </a:pPr>
            <a:r>
              <a:rPr lang="zh-TW" sz="1800"/>
              <a:t>CUDA 12.1（搭配 Tesla V100-SXM2-32GB GPU）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1800"/>
              <a:t>Ultralytics YOLOv8.2.8（</a:t>
            </a:r>
            <a:r>
              <a:rPr lang="zh-TW" sz="1800">
                <a:solidFill>
                  <a:srgbClr val="188038"/>
                </a:solidFill>
              </a:rPr>
              <a:t>yolo</a:t>
            </a:r>
            <a:r>
              <a:rPr lang="zh-TW" sz="1800"/>
              <a:t> CLI）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1800"/>
              <a:t>YOLOv8n / YOLOv8m 權重（</a:t>
            </a:r>
            <a:r>
              <a:rPr lang="zh-TW" sz="1800">
                <a:solidFill>
                  <a:srgbClr val="188038"/>
                </a:solidFill>
              </a:rPr>
              <a:t>yolov8n.pt</a:t>
            </a:r>
            <a:r>
              <a:rPr lang="zh-TW" sz="1800"/>
              <a:t>, </a:t>
            </a:r>
            <a:r>
              <a:rPr lang="zh-TW" sz="1800">
                <a:solidFill>
                  <a:srgbClr val="188038"/>
                </a:solidFill>
              </a:rPr>
              <a:t>yolov8m.pt</a:t>
            </a:r>
            <a:r>
              <a:rPr lang="zh-TW" sz="1800"/>
              <a:t>, </a:t>
            </a:r>
            <a:r>
              <a:rPr lang="zh-TW" sz="1800">
                <a:solidFill>
                  <a:srgbClr val="188038"/>
                </a:solidFill>
              </a:rPr>
              <a:t>final_yolov8m_gamma_clahe_best.pt</a:t>
            </a:r>
            <a:r>
              <a:rPr lang="zh-TW" sz="1800"/>
              <a:t>）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1800"/>
              <a:t>OpenC</a:t>
            </a:r>
            <a:r>
              <a:rPr lang="zh-TW" sz="1800"/>
              <a:t>V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1800"/>
              <a:t>pipenv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1800"/>
              <a:t>nvidia-smi</a:t>
            </a:r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7bafba918_1_8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Microsoft JhengHei"/>
              <a:buNone/>
            </a:pPr>
            <a:r>
              <a:rPr lang="zh-TW"/>
              <a:t>四、補充說明(</a:t>
            </a:r>
            <a:r>
              <a:rPr lang="zh-TW"/>
              <a:t>未來延伸</a:t>
            </a:r>
            <a:r>
              <a:rPr lang="zh-TW"/>
              <a:t>)</a:t>
            </a:r>
            <a:endParaRPr/>
          </a:p>
        </p:txBody>
      </p:sp>
      <p:sp>
        <p:nvSpPr>
          <p:cNvPr id="160" name="Google Shape;160;g3a7bafba918_1_87"/>
          <p:cNvSpPr txBox="1"/>
          <p:nvPr>
            <p:ph idx="1" type="body"/>
          </p:nvPr>
        </p:nvSpPr>
        <p:spPr>
          <a:xfrm>
            <a:off x="838200" y="1690699"/>
            <a:ext cx="10515600" cy="46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zh-TW" sz="1900"/>
              <a:t>未來可以做的事：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Font typeface="Microsoft JhengHei"/>
              <a:buChar char="●"/>
            </a:pPr>
            <a:r>
              <a:rPr lang="zh-TW" sz="1900"/>
              <a:t>加入更多專門為 crack 設計的特徵（例如 edge map、Sobel Y 通道）。</a:t>
            </a:r>
            <a:br>
              <a:rPr lang="zh-TW" sz="1900"/>
            </a:b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Microsoft JhengHei"/>
              <a:buChar char="●"/>
            </a:pPr>
            <a:r>
              <a:rPr lang="zh-TW" sz="1900"/>
              <a:t>做更細緻的錯誤分析，針對容易誤判的紋路設計做資料增強。</a:t>
            </a:r>
            <a:br>
              <a:rPr lang="zh-TW" sz="1900"/>
            </a:b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Microsoft JhengHei"/>
              <a:buChar char="●"/>
            </a:pPr>
            <a:r>
              <a:rPr lang="zh-TW" sz="1900"/>
              <a:t>測試其他偵測或 segmentation 模型，與 YOLOv8 做比較。</a:t>
            </a: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佈景主題">
  <a:themeElements>
    <a:clrScheme name="Office 佈景主題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2018-07-31T03:49:54Z</dcterms:created>
  <dc:creator>Windows 使用者</dc:creator>
</cp:coreProperties>
</file>