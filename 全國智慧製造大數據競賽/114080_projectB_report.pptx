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797675" cy="9928225"/>
  <p:embeddedFontLst>
    <p:embeddedFont>
      <p:font typeface="Roboto Mon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hW4YAC1AumKCq56STgLWSCbi39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Mono-bold.fntdata"/><Relationship Id="rId21" Type="http://schemas.openxmlformats.org/officeDocument/2006/relationships/font" Target="fonts/RobotoMono-regular.fntdata"/><Relationship Id="rId24" Type="http://schemas.openxmlformats.org/officeDocument/2006/relationships/font" Target="fonts/RobotoMono-boldItalic.fntdata"/><Relationship Id="rId23" Type="http://schemas.openxmlformats.org/officeDocument/2006/relationships/font" Target="fonts/RobotoMon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33150" y="744600"/>
            <a:ext cx="4532000" cy="3723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79750" y="4715900"/>
            <a:ext cx="5438125" cy="44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 txBox="1"/>
          <p:nvPr>
            <p:ph idx="1" type="body"/>
          </p:nvPr>
        </p:nvSpPr>
        <p:spPr>
          <a:xfrm>
            <a:off x="679750" y="4715900"/>
            <a:ext cx="5438125" cy="44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:notes"/>
          <p:cNvSpPr/>
          <p:nvPr>
            <p:ph idx="2" type="sldImg"/>
          </p:nvPr>
        </p:nvSpPr>
        <p:spPr>
          <a:xfrm>
            <a:off x="1133150" y="744600"/>
            <a:ext cx="4532000" cy="3723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9fea4c5d5_1_58:notes"/>
          <p:cNvSpPr txBox="1"/>
          <p:nvPr>
            <p:ph idx="1" type="body"/>
          </p:nvPr>
        </p:nvSpPr>
        <p:spPr>
          <a:xfrm>
            <a:off x="679750" y="4715900"/>
            <a:ext cx="5438100" cy="44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 東台精機</a:t>
            </a:r>
            <a:endParaRPr/>
          </a:p>
        </p:txBody>
      </p:sp>
      <p:sp>
        <p:nvSpPr>
          <p:cNvPr id="86" name="Google Shape;86;g399fea4c5d5_1_58:notes"/>
          <p:cNvSpPr/>
          <p:nvPr>
            <p:ph idx="2" type="sldImg"/>
          </p:nvPr>
        </p:nvSpPr>
        <p:spPr>
          <a:xfrm>
            <a:off x="1133150" y="744600"/>
            <a:ext cx="4532100" cy="3723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7b9ff5f98_0_4:notes"/>
          <p:cNvSpPr txBox="1"/>
          <p:nvPr>
            <p:ph idx="1" type="body"/>
          </p:nvPr>
        </p:nvSpPr>
        <p:spPr>
          <a:xfrm>
            <a:off x="679750" y="4715900"/>
            <a:ext cx="5438100" cy="44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 東台精機</a:t>
            </a:r>
            <a:endParaRPr/>
          </a:p>
        </p:txBody>
      </p:sp>
      <p:sp>
        <p:nvSpPr>
          <p:cNvPr id="93" name="Google Shape;93;g3a7b9ff5f98_0_4:notes"/>
          <p:cNvSpPr/>
          <p:nvPr>
            <p:ph idx="2" type="sldImg"/>
          </p:nvPr>
        </p:nvSpPr>
        <p:spPr>
          <a:xfrm>
            <a:off x="1133150" y="744600"/>
            <a:ext cx="4532100" cy="3723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7a9000f84_0_14:notes"/>
          <p:cNvSpPr txBox="1"/>
          <p:nvPr>
            <p:ph idx="1" type="body"/>
          </p:nvPr>
        </p:nvSpPr>
        <p:spPr>
          <a:xfrm>
            <a:off x="679750" y="4715900"/>
            <a:ext cx="5438100" cy="44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5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我們的核心策略是「</a:t>
            </a:r>
            <a:r>
              <a:rPr b="1" lang="zh-TW" sz="25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窗口聚合</a:t>
            </a:r>
            <a:r>
              <a:rPr lang="zh-TW" sz="25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」，將每個檔案按固定長度（如 15000 筆數據）透過滑動視窗切割成多個子序列，以捕捉局部動態特徵並增加樣本數。接著從各時間窗提取</a:t>
            </a:r>
            <a:r>
              <a:rPr b="1" lang="zh-TW" sz="25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統計特徵</a:t>
            </a:r>
            <a:r>
              <a:rPr lang="zh-TW" sz="25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，再依靠「</a:t>
            </a:r>
            <a:r>
              <a:rPr b="1" lang="zh-TW" sz="25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排列重要性</a:t>
            </a:r>
            <a:r>
              <a:rPr lang="zh-TW" sz="25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」方法篩選出對模型預測最具貢獻的特徵組合。</a:t>
            </a:r>
            <a:endParaRPr/>
          </a:p>
        </p:txBody>
      </p:sp>
      <p:sp>
        <p:nvSpPr>
          <p:cNvPr id="100" name="Google Shape;100;g3a7a9000f84_0_14:notes"/>
          <p:cNvSpPr/>
          <p:nvPr>
            <p:ph idx="2" type="sldImg"/>
          </p:nvPr>
        </p:nvSpPr>
        <p:spPr>
          <a:xfrm>
            <a:off x="1133150" y="744600"/>
            <a:ext cx="4532100" cy="3723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747a5ef83_1_19:notes"/>
          <p:cNvSpPr txBox="1"/>
          <p:nvPr>
            <p:ph idx="1" type="body"/>
          </p:nvPr>
        </p:nvSpPr>
        <p:spPr>
          <a:xfrm>
            <a:off x="679750" y="4715900"/>
            <a:ext cx="5438100" cy="44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a747a5ef83_1_19:notes"/>
          <p:cNvSpPr/>
          <p:nvPr>
            <p:ph idx="2" type="sldImg"/>
          </p:nvPr>
        </p:nvSpPr>
        <p:spPr>
          <a:xfrm>
            <a:off x="1133150" y="744600"/>
            <a:ext cx="4532100" cy="3723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7a9000f84_0_8:notes"/>
          <p:cNvSpPr txBox="1"/>
          <p:nvPr>
            <p:ph idx="1" type="body"/>
          </p:nvPr>
        </p:nvSpPr>
        <p:spPr>
          <a:xfrm>
            <a:off x="679750" y="4715900"/>
            <a:ext cx="5438100" cy="44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a7a9000f84_0_8:notes"/>
          <p:cNvSpPr/>
          <p:nvPr>
            <p:ph idx="2" type="sldImg"/>
          </p:nvPr>
        </p:nvSpPr>
        <p:spPr>
          <a:xfrm>
            <a:off x="1133150" y="744600"/>
            <a:ext cx="4532100" cy="3723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7a9000f84_0_2:notes"/>
          <p:cNvSpPr txBox="1"/>
          <p:nvPr>
            <p:ph idx="1" type="body"/>
          </p:nvPr>
        </p:nvSpPr>
        <p:spPr>
          <a:xfrm>
            <a:off x="679750" y="4715900"/>
            <a:ext cx="5438100" cy="44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a7a9000f84_0_2:notes"/>
          <p:cNvSpPr/>
          <p:nvPr>
            <p:ph idx="2" type="sldImg"/>
          </p:nvPr>
        </p:nvSpPr>
        <p:spPr>
          <a:xfrm>
            <a:off x="1133150" y="744600"/>
            <a:ext cx="4532100" cy="3723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79750" y="4715900"/>
            <a:ext cx="5438125" cy="44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33150" y="744600"/>
            <a:ext cx="4532000" cy="3723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747a5ef83_1_5:notes"/>
          <p:cNvSpPr txBox="1"/>
          <p:nvPr>
            <p:ph idx="1" type="body"/>
          </p:nvPr>
        </p:nvSpPr>
        <p:spPr>
          <a:xfrm>
            <a:off x="679750" y="4715900"/>
            <a:ext cx="5438100" cy="44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zh-TW" sz="1300">
                <a:solidFill>
                  <a:schemeClr val="dk1"/>
                </a:solidFill>
              </a:rPr>
              <a:t>CatBoost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專為類別特徵設計，內建處理機制。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Ordered Boosting 減少梯度偏差，適合小樣本。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支援 GPU 加速與大數據。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適用於信用評分、風險模型、推薦系統。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zh-TW" sz="1300">
                <a:solidFill>
                  <a:schemeClr val="dk1"/>
                </a:solidFill>
              </a:rPr>
              <a:t>LightGBM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Leaf-wise 樹生長策略，訓練速度快。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Gradient-based One-Side Sampling (GOSS) 提升效率。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Exclusive Feature Bundling (EFB) 降維處理。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zh-TW" sz="1300">
                <a:solidFill>
                  <a:schemeClr val="dk1"/>
                </a:solidFill>
              </a:rPr>
              <a:t>XGBoost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Level-wise 樹生長策略，穩定性高。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支援正則化（L1/L2），防止 overfitting。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支援並行運算，適合大資料集。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廣泛應用於 Kaggle 比賽、風險預測、特徵重要性分析。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137" name="Google Shape;137;g3a747a5ef83_1_5:notes"/>
          <p:cNvSpPr/>
          <p:nvPr>
            <p:ph idx="2" type="sldImg"/>
          </p:nvPr>
        </p:nvSpPr>
        <p:spPr>
          <a:xfrm>
            <a:off x="1133150" y="744600"/>
            <a:ext cx="4532100" cy="3723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747a5ef83_1_0:notes"/>
          <p:cNvSpPr txBox="1"/>
          <p:nvPr>
            <p:ph idx="1" type="body"/>
          </p:nvPr>
        </p:nvSpPr>
        <p:spPr>
          <a:xfrm>
            <a:off x="679750" y="4715900"/>
            <a:ext cx="5438100" cy="44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zh-TW" sz="1300">
                <a:solidFill>
                  <a:schemeClr val="dk1"/>
                </a:solidFill>
              </a:rPr>
              <a:t>CatBoost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專為類別特徵設計，內建處理機制。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Ordered Boosting 減少梯度偏差，適合小樣本。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支援 GPU 加速與大數據。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適用於信用評分、風險模型、推薦系統。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zh-TW" sz="1300">
                <a:solidFill>
                  <a:schemeClr val="dk1"/>
                </a:solidFill>
              </a:rPr>
              <a:t>LightGBM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Leaf-wise 樹生長策略，訓練速度快。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Gradient-based One-Side Sampling (GOSS) 提升效率。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Exclusive Feature Bundling (EFB) 降維處理。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zh-TW" sz="1300">
                <a:solidFill>
                  <a:schemeClr val="dk1"/>
                </a:solidFill>
              </a:rPr>
              <a:t>XGBoost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Level-wise 樹生長策略，穩定性高。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支援正則化（L1/L2），防止 overfitting。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支援並行運算，適合大資料集。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廣泛應用於 Kaggle 比賽、風險預測、特徵重要性分析。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144" name="Google Shape;144;g3a747a5ef83_1_0:notes"/>
          <p:cNvSpPr/>
          <p:nvPr>
            <p:ph idx="2" type="sldImg"/>
          </p:nvPr>
        </p:nvSpPr>
        <p:spPr>
          <a:xfrm>
            <a:off x="1133150" y="744600"/>
            <a:ext cx="4532100" cy="3723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9fea4c5d5_1_1:notes"/>
          <p:cNvSpPr txBox="1"/>
          <p:nvPr>
            <p:ph idx="1" type="body"/>
          </p:nvPr>
        </p:nvSpPr>
        <p:spPr>
          <a:xfrm>
            <a:off x="679750" y="4715900"/>
            <a:ext cx="5438100" cy="44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chemeClr val="dk1"/>
                </a:solidFill>
              </a:rPr>
              <a:t>基本流程</a:t>
            </a:r>
            <a:r>
              <a:rPr lang="zh-TW">
                <a:solidFill>
                  <a:schemeClr val="dk1"/>
                </a:solidFill>
              </a:rPr>
              <a:t>：初始化 → 適應度評估 → 選擇 → 交配（Crossover） → 變異（Mutation） → 新一代。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個體表示</a:t>
            </a:r>
            <a:r>
              <a:rPr lang="zh-TW">
                <a:solidFill>
                  <a:schemeClr val="dk1"/>
                </a:solidFill>
              </a:rPr>
              <a:t>：使用基因（通常為二進位或實數向量）表示解答。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關鍵操作</a:t>
            </a:r>
            <a:r>
              <a:rPr lang="zh-TW">
                <a:solidFill>
                  <a:schemeClr val="dk1"/>
                </a:solidFill>
              </a:rPr>
              <a:t>：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TW">
                <a:solidFill>
                  <a:schemeClr val="dk1"/>
                </a:solidFill>
              </a:rPr>
              <a:t>選擇 (Selection)：優勝劣汰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TW">
                <a:solidFill>
                  <a:schemeClr val="dk1"/>
                </a:solidFill>
              </a:rPr>
              <a:t>交配 (Crossover)：交換基因產生後代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TW">
                <a:solidFill>
                  <a:schemeClr val="dk1"/>
                </a:solidFill>
              </a:rPr>
              <a:t>變異 (Mutation)：隨機改變基因增加多樣性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應用範例</a:t>
            </a:r>
            <a:r>
              <a:rPr lang="zh-TW">
                <a:solidFill>
                  <a:schemeClr val="dk1"/>
                </a:solidFill>
              </a:rPr>
              <a:t>：參數優化、排程問題、路徑規劃、特徵選擇。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N_FOLDS = 5</a:t>
            </a:r>
            <a:r>
              <a:rPr lang="zh-TW">
                <a:solidFill>
                  <a:schemeClr val="dk1"/>
                </a:solidFill>
              </a:rPr>
              <a:t> → 5 折交叉驗證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EARLY_STOPPING_ROUNDS = 200</a:t>
            </a:r>
            <a:r>
              <a:rPr lang="zh-TW">
                <a:solidFill>
                  <a:schemeClr val="dk1"/>
                </a:solidFill>
              </a:rPr>
              <a:t> → 對應 FIXED_PARAMS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POPULATION_SIZE = 40</a:t>
            </a:r>
            <a:r>
              <a:rPr lang="zh-TW">
                <a:solidFill>
                  <a:schemeClr val="dk1"/>
                </a:solidFill>
              </a:rPr>
              <a:t> → 每代 40 個個體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NGEN = 20</a:t>
            </a:r>
            <a:r>
              <a:rPr lang="zh-TW">
                <a:solidFill>
                  <a:schemeClr val="dk1"/>
                </a:solidFill>
              </a:rPr>
              <a:t> → 演化 20 代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CXPB = 0.7</a:t>
            </a:r>
            <a:r>
              <a:rPr lang="zh-TW">
                <a:solidFill>
                  <a:schemeClr val="dk1"/>
                </a:solidFill>
              </a:rPr>
              <a:t> → 交配概率 70%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MUTPB = 0.3</a:t>
            </a:r>
            <a:r>
              <a:rPr lang="zh-TW">
                <a:solidFill>
                  <a:schemeClr val="dk1"/>
                </a:solidFill>
              </a:rPr>
              <a:t> → 變異概率 30%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1" name="Google Shape;151;g399fea4c5d5_1_1:notes"/>
          <p:cNvSpPr/>
          <p:nvPr>
            <p:ph idx="2" type="sldImg"/>
          </p:nvPr>
        </p:nvSpPr>
        <p:spPr>
          <a:xfrm>
            <a:off x="1133150" y="744600"/>
            <a:ext cx="4532100" cy="3723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7e5ea652d_0_11:notes"/>
          <p:cNvSpPr txBox="1"/>
          <p:nvPr>
            <p:ph idx="1" type="body"/>
          </p:nvPr>
        </p:nvSpPr>
        <p:spPr>
          <a:xfrm>
            <a:off x="679750" y="4715900"/>
            <a:ext cx="5438100" cy="44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chemeClr val="dk1"/>
                </a:solidFill>
              </a:rPr>
              <a:t>基本流程</a:t>
            </a:r>
            <a:r>
              <a:rPr lang="zh-TW">
                <a:solidFill>
                  <a:schemeClr val="dk1"/>
                </a:solidFill>
              </a:rPr>
              <a:t>：初始化 → 適應度評估 → 選擇 → 交配（Crossover） → 變異（Mutation） → 新一代。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個體表示</a:t>
            </a:r>
            <a:r>
              <a:rPr lang="zh-TW">
                <a:solidFill>
                  <a:schemeClr val="dk1"/>
                </a:solidFill>
              </a:rPr>
              <a:t>：使用基因（通常為二進位或實數向量）表示解答。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關鍵操作</a:t>
            </a:r>
            <a:r>
              <a:rPr lang="zh-TW">
                <a:solidFill>
                  <a:schemeClr val="dk1"/>
                </a:solidFill>
              </a:rPr>
              <a:t>：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TW">
                <a:solidFill>
                  <a:schemeClr val="dk1"/>
                </a:solidFill>
              </a:rPr>
              <a:t>選擇 (Selection)：優勝劣汰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TW">
                <a:solidFill>
                  <a:schemeClr val="dk1"/>
                </a:solidFill>
              </a:rPr>
              <a:t>交配 (Crossover)：交換基因產生後代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TW">
                <a:solidFill>
                  <a:schemeClr val="dk1"/>
                </a:solidFill>
              </a:rPr>
              <a:t>變異 (Mutation)：隨機改變基因增加多樣性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應用範例</a:t>
            </a:r>
            <a:r>
              <a:rPr lang="zh-TW">
                <a:solidFill>
                  <a:schemeClr val="dk1"/>
                </a:solidFill>
              </a:rPr>
              <a:t>：參數優化、排程問題、路徑規劃、特徵選擇。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N_FOLDS = 5</a:t>
            </a:r>
            <a:r>
              <a:rPr lang="zh-TW">
                <a:solidFill>
                  <a:schemeClr val="dk1"/>
                </a:solidFill>
              </a:rPr>
              <a:t> → 5 折交叉驗證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EARLY_STOPPING_ROUNDS = 200</a:t>
            </a:r>
            <a:r>
              <a:rPr lang="zh-TW">
                <a:solidFill>
                  <a:schemeClr val="dk1"/>
                </a:solidFill>
              </a:rPr>
              <a:t> → 對應 FIXED_PARAMS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POPULATION_SIZE = 40</a:t>
            </a:r>
            <a:r>
              <a:rPr lang="zh-TW">
                <a:solidFill>
                  <a:schemeClr val="dk1"/>
                </a:solidFill>
              </a:rPr>
              <a:t> → 每代 40 個個體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NGEN = 20</a:t>
            </a:r>
            <a:r>
              <a:rPr lang="zh-TW">
                <a:solidFill>
                  <a:schemeClr val="dk1"/>
                </a:solidFill>
              </a:rPr>
              <a:t> → 演化 20 代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CXPB = 0.7</a:t>
            </a:r>
            <a:r>
              <a:rPr lang="zh-TW">
                <a:solidFill>
                  <a:schemeClr val="dk1"/>
                </a:solidFill>
              </a:rPr>
              <a:t> → 交配概率 70%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MUTPB = 0.3</a:t>
            </a:r>
            <a:r>
              <a:rPr lang="zh-TW">
                <a:solidFill>
                  <a:schemeClr val="dk1"/>
                </a:solidFill>
              </a:rPr>
              <a:t> → 變異概率 30%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8" name="Google Shape;158;g3a7e5ea652d_0_11:notes"/>
          <p:cNvSpPr/>
          <p:nvPr>
            <p:ph idx="2" type="sldImg"/>
          </p:nvPr>
        </p:nvSpPr>
        <p:spPr>
          <a:xfrm>
            <a:off x="1133150" y="744600"/>
            <a:ext cx="4532100" cy="3723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9fea4c5d5_1_44:notes"/>
          <p:cNvSpPr txBox="1"/>
          <p:nvPr>
            <p:ph idx="1" type="body"/>
          </p:nvPr>
        </p:nvSpPr>
        <p:spPr>
          <a:xfrm>
            <a:off x="679750" y="4715900"/>
            <a:ext cx="5438100" cy="44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zh-TW" sz="1300">
                <a:solidFill>
                  <a:schemeClr val="dk1"/>
                </a:solidFill>
              </a:rPr>
              <a:t>CatBoost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專為類別特徵設計，內建處理機制。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Ordered Boosting 減少梯度偏差，適合小樣本。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支援 GPU 加速與大數據。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適用於信用評分、風險模型、推薦系統。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zh-TW" sz="1300">
                <a:solidFill>
                  <a:schemeClr val="dk1"/>
                </a:solidFill>
              </a:rPr>
              <a:t>LightGBM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Leaf-wise 樹生長策略，訓練速度快。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Gradient-based One-Side Sampling (GOSS) 提升效率。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Exclusive Feature Bundling (EFB) 降維處理。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zh-TW" sz="1300">
                <a:solidFill>
                  <a:schemeClr val="dk1"/>
                </a:solidFill>
              </a:rPr>
              <a:t>XGBoost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Level-wise 樹生長策略，穩定性高。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支援正則化（L1/L2），防止 overfitting。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支援並行運算，適合大資料集。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廣泛應用於 Kaggle 比賽、風險預測、特徵重要性分析。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166" name="Google Shape;166;g399fea4c5d5_1_44:notes"/>
          <p:cNvSpPr/>
          <p:nvPr>
            <p:ph idx="2" type="sldImg"/>
          </p:nvPr>
        </p:nvSpPr>
        <p:spPr>
          <a:xfrm>
            <a:off x="1133150" y="744600"/>
            <a:ext cx="4532100" cy="3723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7b9ff5f98_0_20:notes"/>
          <p:cNvSpPr txBox="1"/>
          <p:nvPr>
            <p:ph idx="1" type="body"/>
          </p:nvPr>
        </p:nvSpPr>
        <p:spPr>
          <a:xfrm>
            <a:off x="679750" y="4715900"/>
            <a:ext cx="5438100" cy="44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zh-TW" sz="1300">
                <a:solidFill>
                  <a:schemeClr val="dk1"/>
                </a:solidFill>
              </a:rPr>
              <a:t>CatBoost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專為類別特徵設計，內建處理機制。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Ordered Boosting 減少梯度偏差，適合小樣本。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支援 GPU 加速與大數據。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適用於信用評分、風險模型、推薦系統。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zh-TW" sz="1300">
                <a:solidFill>
                  <a:schemeClr val="dk1"/>
                </a:solidFill>
              </a:rPr>
              <a:t>LightGBM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Leaf-wise 樹生長策略，訓練速度快。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Gradient-based One-Side Sampling (GOSS) 提升效率。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Exclusive Feature Bundling (EFB) 降維處理。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zh-TW" sz="1300">
                <a:solidFill>
                  <a:schemeClr val="dk1"/>
                </a:solidFill>
              </a:rPr>
              <a:t>XGBoost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Level-wise 樹生長策略，穩定性高。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支援正則化（L1/L2），防止 overfitting。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支援並行運算，適合大資料集。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廣泛應用於 Kaggle 比賽、風險預測、特徵重要性分析。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172" name="Google Shape;172;g3a7b9ff5f98_0_20:notes"/>
          <p:cNvSpPr/>
          <p:nvPr>
            <p:ph idx="2" type="sldImg"/>
          </p:nvPr>
        </p:nvSpPr>
        <p:spPr>
          <a:xfrm>
            <a:off x="1133150" y="744600"/>
            <a:ext cx="4532100" cy="3723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:notes"/>
          <p:cNvSpPr txBox="1"/>
          <p:nvPr>
            <p:ph idx="1" type="body"/>
          </p:nvPr>
        </p:nvSpPr>
        <p:spPr>
          <a:xfrm>
            <a:off x="679750" y="4715900"/>
            <a:ext cx="5438125" cy="44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:notes"/>
          <p:cNvSpPr/>
          <p:nvPr>
            <p:ph idx="2" type="sldImg"/>
          </p:nvPr>
        </p:nvSpPr>
        <p:spPr>
          <a:xfrm>
            <a:off x="1133150" y="744600"/>
            <a:ext cx="4532000" cy="3723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物件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Microsoft JhengHei"/>
              <a:buNone/>
              <a:defRPr b="1" sz="4000">
                <a:solidFill>
                  <a:srgbClr val="C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" type="body"/>
          </p:nvPr>
        </p:nvSpPr>
        <p:spPr>
          <a:xfrm>
            <a:off x="838200" y="1690688"/>
            <a:ext cx="10515600" cy="4943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1"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1"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b="1"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項物件" type="twoObj">
  <p:cSld name="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對" type="twoTxTwoObj">
  <p:cSld name="TWO_OBJECTS_WITH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1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內容" type="objTx">
  <p:cSld name="OBJECT_WITH_CAPTION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5" name="Google Shape;55;p1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6" name="Google Shape;56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圖片" type="picTx">
  <p:cSld name="PICTURE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1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1" name="Google Shape;11;p7"/>
          <p:cNvSpPr txBox="1"/>
          <p:nvPr/>
        </p:nvSpPr>
        <p:spPr>
          <a:xfrm>
            <a:off x="11657862" y="6383525"/>
            <a:ext cx="637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TW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"/>
          <p:cNvSpPr txBox="1"/>
          <p:nvPr>
            <p:ph type="ctrTitle"/>
          </p:nvPr>
        </p:nvSpPr>
        <p:spPr>
          <a:xfrm>
            <a:off x="2299507" y="2941282"/>
            <a:ext cx="7772400" cy="19782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rosoft JhengHei"/>
              <a:buNone/>
            </a:pPr>
            <a:r>
              <a:rPr b="1" lang="zh-TW"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報名序號：114</a:t>
            </a:r>
            <a:r>
              <a:rPr b="1" lang="zh-TW" sz="3000">
                <a:latin typeface="Microsoft JhengHei"/>
                <a:ea typeface="Microsoft JhengHei"/>
                <a:cs typeface="Microsoft JhengHei"/>
                <a:sym typeface="Microsoft JhengHei"/>
              </a:rPr>
              <a:t>080</a:t>
            </a:r>
            <a:br>
              <a:rPr b="1" lang="zh-TW"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b="1" lang="zh-TW"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團隊名稱：</a:t>
            </a:r>
            <a:r>
              <a:rPr b="1" lang="zh-TW" sz="3000">
                <a:latin typeface="Microsoft JhengHei"/>
                <a:ea typeface="Microsoft JhengHei"/>
                <a:cs typeface="Microsoft JhengHei"/>
                <a:sym typeface="Microsoft JhengHei"/>
              </a:rPr>
              <a:t>權志龍給我門票</a:t>
            </a:r>
            <a:endParaRPr b="1" sz="3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3" name="Google Shape;83;p1"/>
          <p:cNvSpPr txBox="1"/>
          <p:nvPr/>
        </p:nvSpPr>
        <p:spPr>
          <a:xfrm>
            <a:off x="1524000" y="932888"/>
            <a:ext cx="91440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3200" u="sng">
                <a:solidFill>
                  <a:srgbClr val="C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2025全國智慧製造大數據分析競賽決賽</a:t>
            </a:r>
            <a:endParaRPr b="1" sz="3200" u="sng">
              <a:solidFill>
                <a:srgbClr val="C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3200" u="sng">
                <a:solidFill>
                  <a:srgbClr val="C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團隊測驗報告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9fea4c5d5_1_5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Microsoft JhengHei"/>
              <a:buNone/>
            </a:pPr>
            <a:r>
              <a:rPr b="1" lang="zh-TW">
                <a:solidFill>
                  <a:srgbClr val="C00000"/>
                </a:solidFill>
              </a:rPr>
              <a:t>一、資料前處理</a:t>
            </a:r>
            <a:r>
              <a:rPr lang="zh-TW"/>
              <a:t>(資料特徵</a:t>
            </a:r>
            <a:r>
              <a:rPr lang="zh-TW"/>
              <a:t>觀察</a:t>
            </a:r>
            <a:r>
              <a:rPr lang="zh-TW"/>
              <a:t>)</a:t>
            </a:r>
            <a:endParaRPr b="1">
              <a:solidFill>
                <a:srgbClr val="C00000"/>
              </a:solidFill>
            </a:endParaRPr>
          </a:p>
        </p:txBody>
      </p:sp>
      <p:sp>
        <p:nvSpPr>
          <p:cNvPr id="89" name="Google Shape;89;g399fea4c5d5_1_58"/>
          <p:cNvSpPr txBox="1"/>
          <p:nvPr/>
        </p:nvSpPr>
        <p:spPr>
          <a:xfrm>
            <a:off x="838200" y="1702014"/>
            <a:ext cx="105156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004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8"/>
              <a:buFont typeface="Microsoft JhengHei"/>
              <a:buChar char="➢"/>
            </a:pPr>
            <a:r>
              <a:rPr lang="zh-TW" sz="2227">
                <a:latin typeface="Microsoft JhengHei"/>
                <a:ea typeface="Microsoft JhengHei"/>
                <a:cs typeface="Microsoft JhengHei"/>
                <a:sym typeface="Microsoft JhengHei"/>
              </a:rPr>
              <a:t>觀察</a:t>
            </a:r>
            <a:r>
              <a:rPr lang="zh-TW" sz="2227">
                <a:latin typeface="Microsoft JhengHei"/>
                <a:ea typeface="Microsoft JhengHei"/>
                <a:cs typeface="Microsoft JhengHei"/>
                <a:sym typeface="Microsoft JhengHei"/>
              </a:rPr>
              <a:t>兩種類別的</a:t>
            </a:r>
            <a:r>
              <a:rPr lang="zh-TW" sz="2227">
                <a:latin typeface="Microsoft JhengHei"/>
                <a:ea typeface="Microsoft JhengHei"/>
                <a:cs typeface="Microsoft JhengHei"/>
                <a:sym typeface="Microsoft JhengHei"/>
              </a:rPr>
              <a:t>資料</a:t>
            </a:r>
            <a:r>
              <a:rPr lang="zh-TW" sz="2227">
                <a:latin typeface="Microsoft JhengHei"/>
                <a:ea typeface="Microsoft JhengHei"/>
                <a:cs typeface="Microsoft JhengHei"/>
                <a:sym typeface="Microsoft JhengHei"/>
              </a:rPr>
              <a:t>分布，作為後續參考</a:t>
            </a:r>
            <a:endParaRPr sz="2227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90" name="Google Shape;90;g399fea4c5d5_1_58"/>
          <p:cNvPicPr preferRelativeResize="0"/>
          <p:nvPr/>
        </p:nvPicPr>
        <p:blipFill rotWithShape="1">
          <a:blip r:embed="rId3">
            <a:alphaModFix/>
          </a:blip>
          <a:srcRect b="6428" l="0" r="0" t="0"/>
          <a:stretch/>
        </p:blipFill>
        <p:spPr>
          <a:xfrm>
            <a:off x="838200" y="2477425"/>
            <a:ext cx="10515599" cy="378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7b9ff5f98_0_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Microsoft JhengHei"/>
              <a:buNone/>
            </a:pPr>
            <a:r>
              <a:rPr b="1" lang="zh-TW">
                <a:solidFill>
                  <a:srgbClr val="C00000"/>
                </a:solidFill>
              </a:rPr>
              <a:t>一、資料前處理</a:t>
            </a:r>
            <a:r>
              <a:rPr lang="zh-TW">
                <a:solidFill>
                  <a:srgbClr val="C00000"/>
                </a:solidFill>
              </a:rPr>
              <a:t>(資料特徵介紹)</a:t>
            </a:r>
            <a:endParaRPr b="1">
              <a:solidFill>
                <a:srgbClr val="C00000"/>
              </a:solidFill>
            </a:endParaRPr>
          </a:p>
        </p:txBody>
      </p:sp>
      <p:sp>
        <p:nvSpPr>
          <p:cNvPr id="96" name="Google Shape;96;g3a7b9ff5f98_0_4"/>
          <p:cNvSpPr txBox="1"/>
          <p:nvPr/>
        </p:nvSpPr>
        <p:spPr>
          <a:xfrm>
            <a:off x="998471" y="1316950"/>
            <a:ext cx="6521700" cy="53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Microsoft JhengHei"/>
              <a:buAutoNum type="arabicPeriod"/>
            </a:pPr>
            <a:r>
              <a:rPr b="1" lang="zh-TW" sz="2100">
                <a:latin typeface="Microsoft JhengHei"/>
                <a:ea typeface="Microsoft JhengHei"/>
                <a:cs typeface="Microsoft JhengHei"/>
                <a:sym typeface="Microsoft JhengHei"/>
              </a:rPr>
              <a:t>Index</a:t>
            </a:r>
            <a:endParaRPr b="1" sz="21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Microsoft JhengHei"/>
              <a:buAutoNum type="arabicPeriod"/>
            </a:pPr>
            <a:r>
              <a:rPr b="1" lang="zh-TW" sz="2100">
                <a:latin typeface="Microsoft JhengHei"/>
                <a:ea typeface="Microsoft JhengHei"/>
                <a:cs typeface="Microsoft JhengHei"/>
                <a:sym typeface="Microsoft JhengHei"/>
              </a:rPr>
              <a:t>Time</a:t>
            </a:r>
            <a:endParaRPr b="1" sz="21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Microsoft JhengHei"/>
              <a:buAutoNum type="arabicPeriod"/>
            </a:pPr>
            <a:r>
              <a:rPr b="1" lang="zh-TW" sz="2100">
                <a:latin typeface="Microsoft JhengHei"/>
                <a:ea typeface="Microsoft JhengHei"/>
                <a:cs typeface="Microsoft JhengHei"/>
                <a:sym typeface="Microsoft JhengHei"/>
              </a:rPr>
              <a:t>POSFN, POSFN.1, POSFN.2</a:t>
            </a:r>
            <a:endParaRPr b="1" sz="21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Microsoft JhengHei"/>
              <a:buAutoNum type="arabicPeriod"/>
            </a:pPr>
            <a:r>
              <a:rPr b="1" lang="zh-TW" sz="2100">
                <a:latin typeface="Microsoft JhengHei"/>
                <a:ea typeface="Microsoft JhengHei"/>
                <a:cs typeface="Microsoft JhengHei"/>
                <a:sym typeface="Microsoft JhengHei"/>
              </a:rPr>
              <a:t>TCMD, TCMD.1, TCMD.2</a:t>
            </a:r>
            <a:endParaRPr b="1" sz="21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Microsoft JhengHei"/>
              <a:buAutoNum type="arabicPeriod"/>
            </a:pPr>
            <a:r>
              <a:rPr b="1" lang="zh-TW" sz="2100">
                <a:latin typeface="Microsoft JhengHei"/>
                <a:ea typeface="Microsoft JhengHei"/>
                <a:cs typeface="Microsoft JhengHei"/>
                <a:sym typeface="Microsoft JhengHei"/>
              </a:rPr>
              <a:t>POSFDC, POSFDC.1, POSFDC.2</a:t>
            </a:r>
            <a:endParaRPr b="1" sz="21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Microsoft JhengHei"/>
              <a:buAutoNum type="arabicPeriod"/>
            </a:pPr>
            <a:r>
              <a:rPr b="1" lang="zh-TW" sz="2100">
                <a:latin typeface="Microsoft JhengHei"/>
                <a:ea typeface="Microsoft JhengHei"/>
                <a:cs typeface="Microsoft JhengHei"/>
                <a:sym typeface="Microsoft JhengHei"/>
              </a:rPr>
              <a:t>ERRC, ERRC.1, ERRC.2</a:t>
            </a:r>
            <a:endParaRPr b="1" sz="21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Microsoft JhengHei"/>
              <a:buAutoNum type="arabicPeriod"/>
            </a:pPr>
            <a:r>
              <a:rPr b="1" lang="zh-TW" sz="2100">
                <a:latin typeface="Microsoft JhengHei"/>
                <a:ea typeface="Microsoft JhengHei"/>
                <a:cs typeface="Microsoft JhengHei"/>
                <a:sym typeface="Microsoft JhengHei"/>
              </a:rPr>
              <a:t>SVPOS, SVPOS.1, SVPOS.2</a:t>
            </a:r>
            <a:endParaRPr b="1" sz="21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Microsoft JhengHei"/>
              <a:buAutoNum type="arabicPeriod"/>
            </a:pPr>
            <a:r>
              <a:rPr b="1" lang="zh-TW" sz="2100">
                <a:latin typeface="Microsoft JhengHei"/>
                <a:ea typeface="Microsoft JhengHei"/>
                <a:cs typeface="Microsoft JhengHei"/>
                <a:sym typeface="Microsoft JhengHei"/>
              </a:rPr>
              <a:t>VCMD, VCMD.1, VCMD.2</a:t>
            </a:r>
            <a:endParaRPr b="1" sz="21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Microsoft JhengHei"/>
              <a:buAutoNum type="arabicPeriod"/>
            </a:pPr>
            <a:r>
              <a:rPr b="1" lang="zh-TW" sz="2100">
                <a:latin typeface="Microsoft JhengHei"/>
                <a:ea typeface="Microsoft JhengHei"/>
                <a:cs typeface="Microsoft JhengHei"/>
                <a:sym typeface="Microsoft JhengHei"/>
              </a:rPr>
              <a:t>VCOUT, VCOUT.1</a:t>
            </a:r>
            <a:endParaRPr b="1" sz="21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Microsoft JhengHei"/>
              <a:buAutoNum type="arabicPeriod"/>
            </a:pPr>
            <a:r>
              <a:rPr b="1" lang="zh-TW" sz="2100">
                <a:latin typeface="Microsoft JhengHei"/>
                <a:ea typeface="Microsoft JhengHei"/>
                <a:cs typeface="Microsoft JhengHei"/>
                <a:sym typeface="Microsoft JhengHei"/>
              </a:rPr>
              <a:t>VCC0, VCC0.1, VCC0.2</a:t>
            </a:r>
            <a:endParaRPr b="1" sz="21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Microsoft JhengHei"/>
              <a:buAutoNum type="arabicPeriod"/>
            </a:pPr>
            <a:r>
              <a:rPr b="1" lang="zh-TW" sz="2100">
                <a:latin typeface="Microsoft JhengHei"/>
                <a:ea typeface="Microsoft JhengHei"/>
                <a:cs typeface="Microsoft JhengHei"/>
                <a:sym typeface="Microsoft JhengHei"/>
              </a:rPr>
              <a:t>SPEED, SPEED.1, SPEED.2</a:t>
            </a:r>
            <a:endParaRPr b="1" sz="21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Microsoft JhengHei"/>
              <a:buAutoNum type="arabicPeriod"/>
            </a:pPr>
            <a:r>
              <a:rPr b="1" lang="zh-TW" sz="2100">
                <a:latin typeface="Microsoft JhengHei"/>
                <a:ea typeface="Microsoft JhengHei"/>
                <a:cs typeface="Microsoft JhengHei"/>
                <a:sym typeface="Microsoft JhengHei"/>
              </a:rPr>
              <a:t>ID, ID.1, ID.2</a:t>
            </a:r>
            <a:endParaRPr b="1" sz="21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Microsoft JhengHei"/>
              <a:buAutoNum type="arabicPeriod"/>
            </a:pPr>
            <a:r>
              <a:rPr b="1" lang="zh-TW" sz="2100">
                <a:latin typeface="Microsoft JhengHei"/>
                <a:ea typeface="Microsoft JhengHei"/>
                <a:cs typeface="Microsoft JhengHei"/>
                <a:sym typeface="Microsoft JhengHei"/>
              </a:rPr>
              <a:t>IQ, IQ.1, IQ.2</a:t>
            </a:r>
            <a:endParaRPr b="1" sz="21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Microsoft JhengHei"/>
              <a:buAutoNum type="arabicPeriod"/>
            </a:pPr>
            <a:r>
              <a:rPr b="1" lang="zh-TW" sz="2100">
                <a:latin typeface="Microsoft JhengHei"/>
                <a:ea typeface="Microsoft JhengHei"/>
                <a:cs typeface="Microsoft JhengHei"/>
                <a:sym typeface="Microsoft JhengHei"/>
              </a:rPr>
              <a:t>POS3DC, POS3DC.1, POS3DC.2</a:t>
            </a:r>
            <a:endParaRPr b="1" sz="21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7" name="Google Shape;97;g3a7b9ff5f98_0_4"/>
          <p:cNvSpPr txBox="1"/>
          <p:nvPr/>
        </p:nvSpPr>
        <p:spPr>
          <a:xfrm>
            <a:off x="6491525" y="3313025"/>
            <a:ext cx="4602300" cy="912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icrosoft JhengHei"/>
              <a:buChar char="★"/>
            </a:pPr>
            <a:r>
              <a:rPr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位置、</a:t>
            </a:r>
            <a:r>
              <a:rPr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力矩</a:t>
            </a:r>
            <a:r>
              <a:rPr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、誤差、速度、電流相關伺服控制系統內部訊號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7a9000f84_0_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Microsoft JhengHei"/>
              <a:buNone/>
            </a:pPr>
            <a:r>
              <a:rPr b="1" lang="zh-TW">
                <a:solidFill>
                  <a:srgbClr val="C00000"/>
                </a:solidFill>
              </a:rPr>
              <a:t>一、資料前處理</a:t>
            </a:r>
            <a:r>
              <a:rPr lang="zh-TW"/>
              <a:t>(說明資料前處理過程)</a:t>
            </a:r>
            <a:endParaRPr b="1">
              <a:solidFill>
                <a:srgbClr val="C00000"/>
              </a:solidFill>
            </a:endParaRPr>
          </a:p>
        </p:txBody>
      </p:sp>
      <p:sp>
        <p:nvSpPr>
          <p:cNvPr id="103" name="Google Shape;103;g3a7a9000f84_0_14"/>
          <p:cNvSpPr txBox="1"/>
          <p:nvPr/>
        </p:nvSpPr>
        <p:spPr>
          <a:xfrm>
            <a:off x="623850" y="1722050"/>
            <a:ext cx="10944300" cy="14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核心策略：視窗聚合 (Window Aggregation)</a:t>
            </a:r>
            <a:endParaRPr b="1"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●"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將原始檔案</a:t>
            </a:r>
            <a:r>
              <a:rPr lang="zh-TW" sz="25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透過滑動視窗切割</a:t>
            </a: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為固定長度 (如 15000 筆數據) 的子序列。</a:t>
            </a: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●"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目標：捕捉局部動態特徵並擴增樣本。</a:t>
            </a: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104" name="Google Shape;104;g3a7a9000f84_0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0125" y="3174675"/>
            <a:ext cx="4870874" cy="2853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g3a7a9000f84_0_14"/>
          <p:cNvSpPr txBox="1"/>
          <p:nvPr/>
        </p:nvSpPr>
        <p:spPr>
          <a:xfrm>
            <a:off x="623850" y="3474900"/>
            <a:ext cx="6108900" cy="22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特徵工程與篩選</a:t>
            </a:r>
            <a:endParaRPr b="1"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●"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從各時間窗提取統計特徵。</a:t>
            </a: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應用</a:t>
            </a:r>
            <a:r>
              <a:rPr b="1"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排列重要性 (Permutation Importance)</a:t>
            </a: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篩選，得出對模型預測最具貢獻的特徵組合。</a:t>
            </a: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747a5ef83_1_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Microsoft JhengHei"/>
              <a:buNone/>
            </a:pPr>
            <a:r>
              <a:rPr b="1" lang="zh-TW">
                <a:solidFill>
                  <a:srgbClr val="C00000"/>
                </a:solidFill>
              </a:rPr>
              <a:t>一、資料前處理</a:t>
            </a:r>
            <a:r>
              <a:rPr lang="zh-TW"/>
              <a:t>(說明資料前處理過程)</a:t>
            </a:r>
            <a:endParaRPr b="1">
              <a:solidFill>
                <a:srgbClr val="C00000"/>
              </a:solidFill>
            </a:endParaRPr>
          </a:p>
        </p:txBody>
      </p:sp>
      <p:sp>
        <p:nvSpPr>
          <p:cNvPr id="111" name="Google Shape;111;g3a747a5ef83_1_19"/>
          <p:cNvSpPr txBox="1"/>
          <p:nvPr/>
        </p:nvSpPr>
        <p:spPr>
          <a:xfrm>
            <a:off x="838200" y="1538169"/>
            <a:ext cx="10817700" cy="49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缺值處理</a:t>
            </a:r>
            <a:endParaRPr b="1" sz="2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icrosoft JhengHei"/>
              <a:buChar char="●"/>
            </a:pPr>
            <a:r>
              <a:rPr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檢查</a:t>
            </a:r>
            <a:r>
              <a:rPr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各檔案的原始</a:t>
            </a:r>
            <a:r>
              <a:rPr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數據，若有缺值則向前填充</a:t>
            </a:r>
            <a:endParaRPr sz="2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=&gt; 缺值：0 個</a:t>
            </a:r>
            <a:endParaRPr b="1" sz="2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分割時間窗 </a:t>
            </a:r>
            <a:endParaRPr b="1" sz="2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icrosoft JhengHei"/>
              <a:buChar char="●"/>
            </a:pPr>
            <a:r>
              <a:rPr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依</a:t>
            </a:r>
            <a:r>
              <a:rPr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序處理各個檔案</a:t>
            </a:r>
            <a:endParaRPr sz="2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icrosoft JhengHei"/>
              <a:buChar char="●"/>
            </a:pPr>
            <a:r>
              <a:rPr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將 </a:t>
            </a:r>
            <a:r>
              <a:rPr b="1"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15000 </a:t>
            </a:r>
            <a:r>
              <a:rPr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筆資料聚合成一個窗格，計算統計特徵值</a:t>
            </a:r>
            <a:endParaRPr sz="2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icrosoft JhengHei"/>
              <a:buChar char="●"/>
            </a:pPr>
            <a:r>
              <a:rPr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每次往後移</a:t>
            </a:r>
            <a:r>
              <a:rPr b="1"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1500</a:t>
            </a:r>
            <a:r>
              <a:rPr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筆資</a:t>
            </a:r>
            <a:r>
              <a:rPr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料，重新設置窗格(重疊率90%)</a:t>
            </a:r>
            <a:endParaRPr sz="2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=&gt; 第一次訓練資料：288 筆</a:t>
            </a:r>
            <a:endParaRPr b="1" sz="2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=&gt; 第二次訓練資料：</a:t>
            </a:r>
            <a:r>
              <a:rPr b="1"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117</a:t>
            </a:r>
            <a:r>
              <a:rPr b="1"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筆								</a:t>
            </a:r>
            <a:endParaRPr b="1" sz="2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=&gt; 測驗資料：467 筆</a:t>
            </a:r>
            <a:endParaRPr b="1" sz="2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7a9000f84_0_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Microsoft JhengHei"/>
              <a:buNone/>
            </a:pPr>
            <a:r>
              <a:rPr b="1" lang="zh-TW">
                <a:solidFill>
                  <a:srgbClr val="C00000"/>
                </a:solidFill>
              </a:rPr>
              <a:t>一、資料前處理</a:t>
            </a:r>
            <a:r>
              <a:rPr lang="zh-TW"/>
              <a:t>(說明資料前處理過程)</a:t>
            </a:r>
            <a:endParaRPr b="1">
              <a:solidFill>
                <a:srgbClr val="C00000"/>
              </a:solidFill>
            </a:endParaRPr>
          </a:p>
        </p:txBody>
      </p:sp>
      <p:sp>
        <p:nvSpPr>
          <p:cNvPr id="117" name="Google Shape;117;g3a7a9000f84_0_8"/>
          <p:cNvSpPr txBox="1"/>
          <p:nvPr>
            <p:ph idx="1" type="body"/>
          </p:nvPr>
        </p:nvSpPr>
        <p:spPr>
          <a:xfrm>
            <a:off x="1056300" y="1520175"/>
            <a:ext cx="9684000" cy="9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75"/>
              <a:buNone/>
            </a:pPr>
            <a:r>
              <a:rPr lang="zh-TW" sz="2200"/>
              <a:t>建立特徵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75"/>
              <a:buNone/>
            </a:pPr>
            <a:r>
              <a:rPr b="0" lang="zh-TW" sz="2200"/>
              <a:t>將 Index 和 Time 之外的 </a:t>
            </a:r>
            <a:r>
              <a:rPr lang="zh-TW" sz="2200"/>
              <a:t>35 </a:t>
            </a:r>
            <a:r>
              <a:rPr b="0" lang="zh-TW" sz="2200"/>
              <a:t>個參數，在每個時間窗內，計算以下統計特徵：</a:t>
            </a:r>
            <a:endParaRPr b="0" sz="22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b="0" sz="22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b="0" sz="2200"/>
          </a:p>
        </p:txBody>
      </p:sp>
      <p:sp>
        <p:nvSpPr>
          <p:cNvPr id="118" name="Google Shape;118;g3a7a9000f84_0_8"/>
          <p:cNvSpPr txBox="1"/>
          <p:nvPr/>
        </p:nvSpPr>
        <p:spPr>
          <a:xfrm>
            <a:off x="1056301" y="2609525"/>
            <a:ext cx="10079400" cy="1558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A.  宏觀狀態特徵 </a:t>
            </a:r>
            <a:endParaRPr b="1" sz="2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</a:t>
            </a:r>
            <a:r>
              <a:rPr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</a:t>
            </a:r>
            <a:r>
              <a:rPr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1.</a:t>
            </a:r>
            <a:r>
              <a:rPr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mean：平均值 		</a:t>
            </a:r>
            <a:r>
              <a:rPr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3. max：最大值  	      5. ptp：峰峰值 (Max - Min)</a:t>
            </a:r>
            <a:endParaRPr sz="2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  2. std：標準差			</a:t>
            </a:r>
            <a:r>
              <a:rPr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4. min：最小值	    	      6. kurtosis：峰度</a:t>
            </a:r>
            <a:endParaRPr sz="2200"/>
          </a:p>
        </p:txBody>
      </p:sp>
      <p:sp>
        <p:nvSpPr>
          <p:cNvPr id="119" name="Google Shape;119;g3a7a9000f84_0_8"/>
          <p:cNvSpPr txBox="1"/>
          <p:nvPr/>
        </p:nvSpPr>
        <p:spPr>
          <a:xfrm>
            <a:off x="1056300" y="4239572"/>
            <a:ext cx="10079400" cy="1558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B.  變化趨勢特徵</a:t>
            </a:r>
            <a:endParaRPr sz="2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  7. diff_mean：各參數一階差分（變化率）的平均值</a:t>
            </a:r>
            <a:endParaRPr sz="2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                        8. diff_std：各參數一階差分（變化率）的標準         </a:t>
            </a:r>
            <a:endParaRPr b="1" sz="2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20" name="Google Shape;120;g3a7a9000f84_0_8"/>
          <p:cNvSpPr txBox="1"/>
          <p:nvPr/>
        </p:nvSpPr>
        <p:spPr>
          <a:xfrm>
            <a:off x="3295800" y="5966750"/>
            <a:ext cx="5786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zh-TW" sz="28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=&gt; 35 × 8 = 280 個特徵 + label</a:t>
            </a:r>
            <a:endParaRPr b="1" sz="2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7a9000f84_0_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Microsoft JhengHei"/>
              <a:buNone/>
            </a:pPr>
            <a:r>
              <a:rPr b="1" lang="zh-TW">
                <a:solidFill>
                  <a:srgbClr val="C00000"/>
                </a:solidFill>
              </a:rPr>
              <a:t>一、資料前處理</a:t>
            </a:r>
            <a:r>
              <a:rPr lang="zh-TW"/>
              <a:t>(說明資料前處理過程)</a:t>
            </a:r>
            <a:endParaRPr b="1">
              <a:solidFill>
                <a:srgbClr val="C00000"/>
              </a:solidFill>
            </a:endParaRPr>
          </a:p>
        </p:txBody>
      </p:sp>
      <p:sp>
        <p:nvSpPr>
          <p:cNvPr id="126" name="Google Shape;126;g3a7a9000f84_0_2"/>
          <p:cNvSpPr txBox="1"/>
          <p:nvPr>
            <p:ph idx="1" type="body"/>
          </p:nvPr>
        </p:nvSpPr>
        <p:spPr>
          <a:xfrm>
            <a:off x="838200" y="1509000"/>
            <a:ext cx="5186700" cy="19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018"/>
              <a:buNone/>
            </a:pPr>
            <a:r>
              <a:rPr lang="zh-TW" sz="2235"/>
              <a:t>高相關性過濾 </a:t>
            </a:r>
            <a:endParaRPr sz="2235"/>
          </a:p>
          <a:p>
            <a:pPr indent="-3683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icrosoft JhengHei"/>
              <a:buChar char="●"/>
            </a:pPr>
            <a:r>
              <a:rPr b="0" lang="zh-TW" sz="2235"/>
              <a:t>計</a:t>
            </a:r>
            <a:r>
              <a:rPr b="0" lang="zh-TW" sz="2200"/>
              <a:t>算所有特徵之間的相關係數</a:t>
            </a:r>
            <a:r>
              <a:rPr b="0" lang="zh-TW" sz="2200"/>
              <a:t>矩</a:t>
            </a:r>
            <a:r>
              <a:rPr b="0" lang="zh-TW" sz="2200"/>
              <a:t>陣</a:t>
            </a:r>
            <a:endParaRPr b="0" sz="2200"/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icrosoft JhengHei"/>
              <a:buChar char="●"/>
            </a:pPr>
            <a:r>
              <a:rPr b="0" lang="zh-TW" sz="2200"/>
              <a:t>若發現兩個特徵的相</a:t>
            </a:r>
            <a:r>
              <a:rPr b="0" lang="zh-TW" sz="2235"/>
              <a:t>關性高於 </a:t>
            </a:r>
            <a:r>
              <a:rPr lang="zh-TW" sz="2235"/>
              <a:t>0.98</a:t>
            </a:r>
            <a:r>
              <a:rPr b="0" lang="zh-TW" sz="2235"/>
              <a:t>，則移除其中一個</a:t>
            </a:r>
            <a:endParaRPr b="0" sz="2235"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zh-TW" sz="2235"/>
              <a:t>=&gt; 移除 16 個特徵</a:t>
            </a:r>
            <a:endParaRPr sz="2235"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018"/>
              <a:buNone/>
            </a:pPr>
            <a:r>
              <a:rPr lang="zh-TW" sz="2235"/>
              <a:t>=&gt; 剩餘 264 個特徵</a:t>
            </a:r>
            <a:endParaRPr sz="2235"/>
          </a:p>
        </p:txBody>
      </p:sp>
      <p:pic>
        <p:nvPicPr>
          <p:cNvPr id="127" name="Google Shape;127;g3a7a9000f84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1642" y="3784503"/>
            <a:ext cx="6645399" cy="283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a7a9000f84_0_2"/>
          <p:cNvSpPr txBox="1"/>
          <p:nvPr/>
        </p:nvSpPr>
        <p:spPr>
          <a:xfrm>
            <a:off x="5754342" y="1446891"/>
            <a:ext cx="5672700" cy="23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排列重要性</a:t>
            </a:r>
            <a:endParaRPr b="1" sz="2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icrosoft JhengHei"/>
              <a:buChar char="●"/>
            </a:pPr>
            <a:r>
              <a:rPr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訓練一個 LGBM 模型，再依次打亂驗證集中的各個特徵，觀察準確度下降程度</a:t>
            </a:r>
            <a:endParaRPr sz="2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icrosoft JhengHei"/>
              <a:buChar char="●"/>
            </a:pPr>
            <a:r>
              <a:rPr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保留重要性 &gt; 0 的</a:t>
            </a:r>
            <a:r>
              <a:rPr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特徵</a:t>
            </a:r>
            <a:r>
              <a:rPr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訓練最終模型</a:t>
            </a:r>
            <a:endParaRPr sz="2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=&gt; 剩餘</a:t>
            </a:r>
            <a:r>
              <a:rPr b="1"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b="1" lang="zh-TW" sz="2200">
                <a:latin typeface="Microsoft JhengHei"/>
                <a:ea typeface="Microsoft JhengHei"/>
                <a:cs typeface="Microsoft JhengHei"/>
                <a:sym typeface="Microsoft JhengHei"/>
              </a:rPr>
              <a:t>10</a:t>
            </a:r>
            <a:r>
              <a:rPr b="1" lang="zh-TW" sz="22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b="1"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個特徵</a:t>
            </a:r>
            <a:endParaRPr b="1" sz="2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Times New Roman"/>
              <a:buNone/>
            </a:pPr>
            <a:r>
              <a:rPr lang="zh-TW">
                <a:solidFill>
                  <a:srgbClr val="C00000"/>
                </a:solidFill>
              </a:rPr>
              <a:t>二、演算法和模型介紹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134" name="Google Shape;134;p4"/>
          <p:cNvSpPr txBox="1"/>
          <p:nvPr/>
        </p:nvSpPr>
        <p:spPr>
          <a:xfrm>
            <a:off x="1085100" y="1544300"/>
            <a:ext cx="10021800" cy="44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3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前置實驗</a:t>
            </a:r>
            <a:endParaRPr b="1" sz="2300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icrosoft JhengHei"/>
              <a:buChar char="●"/>
            </a:pPr>
            <a:r>
              <a:rPr lang="zh-TW" sz="2300">
                <a:latin typeface="Microsoft JhengHei"/>
                <a:ea typeface="Microsoft JhengHei"/>
                <a:cs typeface="Microsoft JhengHei"/>
                <a:sym typeface="Microsoft JhengHei"/>
              </a:rPr>
              <a:t>使用網</a:t>
            </a:r>
            <a:r>
              <a:rPr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格搜尋測試 CATBOOST / LGBM / XGB / RF / LSTM</a:t>
            </a:r>
            <a:endParaRPr sz="2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icrosoft JhengHei"/>
              <a:buChar char="●"/>
            </a:pPr>
            <a:r>
              <a:rPr b="1"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CATBOOST、LGB</a:t>
            </a:r>
            <a:r>
              <a:rPr b="1" lang="zh-TW" sz="23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</a:t>
            </a:r>
            <a:r>
              <a:rPr lang="zh-TW" sz="23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表現較佳</a:t>
            </a:r>
            <a:endParaRPr sz="23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3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後續研究</a:t>
            </a:r>
            <a:endParaRPr sz="23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683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icrosoft JhengHei"/>
              <a:buChar char="●"/>
            </a:pPr>
            <a:r>
              <a:rPr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聚焦於 CATBOOST 與 LGBM，使用遺傳</a:t>
            </a:r>
            <a:r>
              <a:rPr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演算法套件 deap 優化</a:t>
            </a:r>
            <a:r>
              <a:rPr lang="zh-TW" sz="2300">
                <a:latin typeface="Microsoft JhengHei"/>
                <a:ea typeface="Microsoft JhengHei"/>
                <a:cs typeface="Microsoft JhengHei"/>
                <a:sym typeface="Microsoft JhengHei"/>
              </a:rPr>
              <a:t>超參數</a:t>
            </a:r>
            <a:endParaRPr b="1" sz="2300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3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最終結果</a:t>
            </a:r>
            <a:endParaRPr b="1" sz="23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icrosoft JhengHei"/>
              <a:buChar char="●"/>
            </a:pPr>
            <a:r>
              <a:rPr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經過實驗，將 CATBOOST 作為最終模型</a:t>
            </a:r>
            <a:endParaRPr sz="2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icrosoft JhengHei"/>
              <a:buChar char="●"/>
            </a:pPr>
            <a:r>
              <a:rPr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在驗證集上準確率約 95%</a:t>
            </a:r>
            <a:endParaRPr sz="2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747a5ef83_1_5"/>
          <p:cNvSpPr txBox="1"/>
          <p:nvPr>
            <p:ph type="title"/>
          </p:nvPr>
        </p:nvSpPr>
        <p:spPr>
          <a:xfrm>
            <a:off x="838200" y="365125"/>
            <a:ext cx="117912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Times New Roman"/>
              <a:buNone/>
            </a:pPr>
            <a:r>
              <a:rPr lang="zh-TW">
                <a:solidFill>
                  <a:srgbClr val="C00000"/>
                </a:solidFill>
              </a:rPr>
              <a:t>二、演算法和模型介紹 (</a:t>
            </a:r>
            <a:r>
              <a:rPr lang="zh-TW"/>
              <a:t>LightGBM</a:t>
            </a:r>
            <a:r>
              <a:rPr lang="zh-TW">
                <a:solidFill>
                  <a:srgbClr val="C00000"/>
                </a:solidFill>
              </a:rPr>
              <a:t>)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140" name="Google Shape;140;g3a747a5ef83_1_5"/>
          <p:cNvSpPr txBox="1"/>
          <p:nvPr/>
        </p:nvSpPr>
        <p:spPr>
          <a:xfrm>
            <a:off x="754275" y="1614480"/>
            <a:ext cx="10515600" cy="46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83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icrosoft JhengHei"/>
              <a:buChar char="●"/>
            </a:pPr>
            <a:r>
              <a:rPr lang="zh-TW" sz="2235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高效能梯度提升樹，</a:t>
            </a:r>
            <a:r>
              <a:rPr b="1" lang="zh-TW" sz="2235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針對大量特徵/樣本最佳化</a:t>
            </a:r>
            <a:endParaRPr b="1" sz="2235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683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icrosoft JhengHei"/>
              <a:buChar char="●"/>
            </a:pPr>
            <a:r>
              <a:rPr lang="zh-TW" sz="2235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Leaf-wise 成長方式，從最能降低誤差的節點往下分裂</a:t>
            </a:r>
            <a:endParaRPr sz="2235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683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icrosoft JhengHei"/>
              <a:buChar char="●"/>
            </a:pPr>
            <a:r>
              <a:rPr lang="zh-TW" sz="2235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GOSS 只保留梯度大的樣本(資訊量高)</a:t>
            </a:r>
            <a:r>
              <a:rPr lang="zh-TW" sz="2235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，大幅減少低效樣本的計算量</a:t>
            </a:r>
            <a:endParaRPr sz="2235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683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icrosoft JhengHei"/>
              <a:buChar char="●"/>
            </a:pPr>
            <a:r>
              <a:rPr lang="zh-TW" sz="2235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EFB </a:t>
            </a:r>
            <a:r>
              <a:rPr b="1" lang="zh-TW" sz="2235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將互斥特徵合併，大量減少特徵數</a:t>
            </a:r>
            <a:r>
              <a:rPr lang="zh-TW" sz="2235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，降低記憶體消耗，提升訓練速度</a:t>
            </a:r>
            <a:endParaRPr sz="2235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141" name="Google Shape;141;g3a747a5ef83_1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6625" y="3486775"/>
            <a:ext cx="5238750" cy="270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747a5ef83_1_0"/>
          <p:cNvSpPr txBox="1"/>
          <p:nvPr>
            <p:ph type="title"/>
          </p:nvPr>
        </p:nvSpPr>
        <p:spPr>
          <a:xfrm>
            <a:off x="838200" y="365125"/>
            <a:ext cx="117912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Times New Roman"/>
              <a:buNone/>
            </a:pPr>
            <a:r>
              <a:rPr lang="zh-TW">
                <a:solidFill>
                  <a:srgbClr val="C00000"/>
                </a:solidFill>
              </a:rPr>
              <a:t>二、演算法和模型介紹 (</a:t>
            </a:r>
            <a:r>
              <a:rPr lang="zh-TW"/>
              <a:t>C</a:t>
            </a:r>
            <a:r>
              <a:rPr lang="zh-TW"/>
              <a:t>atBoost</a:t>
            </a:r>
            <a:r>
              <a:rPr lang="zh-TW">
                <a:solidFill>
                  <a:srgbClr val="C00000"/>
                </a:solidFill>
              </a:rPr>
              <a:t>)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147" name="Google Shape;147;g3a747a5ef83_1_0"/>
          <p:cNvSpPr txBox="1"/>
          <p:nvPr/>
        </p:nvSpPr>
        <p:spPr>
          <a:xfrm>
            <a:off x="981375" y="1464625"/>
            <a:ext cx="10194000" cy="46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83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icrosoft JhengHei"/>
              <a:buChar char="●"/>
            </a:pPr>
            <a:r>
              <a:rPr lang="zh-TW" sz="2235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專為</a:t>
            </a:r>
            <a:r>
              <a:rPr b="1" lang="zh-TW" sz="2235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類別特徵設計</a:t>
            </a:r>
            <a:r>
              <a:rPr lang="zh-TW" sz="2235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，內建處理機制</a:t>
            </a:r>
            <a:endParaRPr sz="2235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683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icrosoft JhengHei"/>
              <a:buChar char="●"/>
            </a:pPr>
            <a:r>
              <a:rPr lang="zh-TW" sz="2235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Order Boosting 考量編碼順序(時間序列)避免 target leakage</a:t>
            </a:r>
            <a:endParaRPr sz="2235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683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icrosoft JhengHei"/>
              <a:buChar char="●"/>
            </a:pPr>
            <a:r>
              <a:rPr lang="zh-TW" sz="2235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對稱樹結構加速推論</a:t>
            </a:r>
            <a:endParaRPr sz="2235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683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icrosoft JhengHei"/>
              <a:buChar char="●"/>
            </a:pPr>
            <a:r>
              <a:rPr b="1" lang="zh-TW" sz="2235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適合資料較小</a:t>
            </a:r>
            <a:r>
              <a:rPr lang="zh-TW" sz="2235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但其他模型表現不穩定的場合</a:t>
            </a:r>
            <a:endParaRPr sz="2235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148" name="Google Shape;148;g3a747a5ef83_1_0"/>
          <p:cNvPicPr preferRelativeResize="0"/>
          <p:nvPr/>
        </p:nvPicPr>
        <p:blipFill rotWithShape="1">
          <a:blip r:embed="rId3">
            <a:alphaModFix/>
          </a:blip>
          <a:srcRect b="11338" l="0" r="0" t="19356"/>
          <a:stretch/>
        </p:blipFill>
        <p:spPr>
          <a:xfrm>
            <a:off x="2206887" y="3727275"/>
            <a:ext cx="7778226" cy="26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g399fea4c5d5_1_1"/>
          <p:cNvPicPr preferRelativeResize="0"/>
          <p:nvPr/>
        </p:nvPicPr>
        <p:blipFill rotWithShape="1">
          <a:blip r:embed="rId3">
            <a:alphaModFix/>
          </a:blip>
          <a:srcRect b="0" l="0" r="1332" t="0"/>
          <a:stretch/>
        </p:blipFill>
        <p:spPr>
          <a:xfrm>
            <a:off x="6928257" y="2899829"/>
            <a:ext cx="4573925" cy="3697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399fea4c5d5_1_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Times New Roman"/>
              <a:buNone/>
            </a:pPr>
            <a:r>
              <a:rPr lang="zh-TW">
                <a:solidFill>
                  <a:srgbClr val="C00000"/>
                </a:solidFill>
              </a:rPr>
              <a:t>二、演算法和模型介紹</a:t>
            </a:r>
            <a:r>
              <a:rPr lang="zh-TW"/>
              <a:t> </a:t>
            </a:r>
            <a:r>
              <a:rPr lang="zh-TW">
                <a:solidFill>
                  <a:srgbClr val="C00000"/>
                </a:solidFill>
              </a:rPr>
              <a:t>(</a:t>
            </a:r>
            <a:r>
              <a:rPr lang="zh-TW"/>
              <a:t>遺傳演算法</a:t>
            </a:r>
            <a:r>
              <a:rPr lang="zh-TW">
                <a:solidFill>
                  <a:srgbClr val="C00000"/>
                </a:solidFill>
              </a:rPr>
              <a:t>)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155" name="Google Shape;155;g399fea4c5d5_1_1"/>
          <p:cNvSpPr txBox="1"/>
          <p:nvPr/>
        </p:nvSpPr>
        <p:spPr>
          <a:xfrm>
            <a:off x="754275" y="1386700"/>
            <a:ext cx="10080000" cy="53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8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基本流程</a:t>
            </a:r>
            <a:endParaRPr b="1" sz="2408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81515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8"/>
              <a:buFont typeface="Microsoft JhengHei"/>
              <a:buChar char="★"/>
            </a:pPr>
            <a:r>
              <a:rPr lang="zh-TW" sz="2408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初始化 - 適應度評估－選擇－交配(Crossover)－變異－新子代</a:t>
            </a:r>
            <a:endParaRPr sz="2408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81515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8"/>
              <a:buFont typeface="Microsoft JhengHei"/>
              <a:buChar char="★"/>
            </a:pPr>
            <a:r>
              <a:rPr lang="zh-TW" sz="2408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個體表示：以基因表示個體，通常為二進位或實數向量</a:t>
            </a:r>
            <a:endParaRPr sz="2408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81515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8"/>
              <a:buFont typeface="Microsoft JhengHei"/>
              <a:buChar char="★"/>
            </a:pPr>
            <a:r>
              <a:rPr b="1" lang="zh-TW" sz="2408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滿足特定條件時提早停止演化，節省時間資源</a:t>
            </a:r>
            <a:endParaRPr b="1" sz="2408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8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演算法參數設定</a:t>
            </a:r>
            <a:endParaRPr sz="2408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8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N_FOLDS = 5</a:t>
            </a:r>
            <a:endParaRPr sz="2408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8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EARLY_STOPPING_ROUNDS =  200</a:t>
            </a:r>
            <a:endParaRPr sz="2408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8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POPULATION_SIZE = 40</a:t>
            </a:r>
            <a:endParaRPr sz="2408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8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NGEN = 20</a:t>
            </a:r>
            <a:endParaRPr sz="2408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8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CXPB = 0.7</a:t>
            </a:r>
            <a:endParaRPr sz="2408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8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MUTPB = 0.3</a:t>
            </a:r>
            <a:endParaRPr sz="2408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7e5ea652d_0_1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Times New Roman"/>
              <a:buNone/>
            </a:pPr>
            <a:r>
              <a:rPr lang="zh-TW"/>
              <a:t>二</a:t>
            </a:r>
            <a:r>
              <a:rPr lang="zh-TW">
                <a:solidFill>
                  <a:srgbClr val="C00000"/>
                </a:solidFill>
              </a:rPr>
              <a:t>、演算法和模型介紹</a:t>
            </a:r>
            <a:r>
              <a:rPr lang="zh-TW"/>
              <a:t> </a:t>
            </a:r>
            <a:r>
              <a:rPr lang="zh-TW">
                <a:solidFill>
                  <a:srgbClr val="C00000"/>
                </a:solidFill>
              </a:rPr>
              <a:t>(</a:t>
            </a:r>
            <a:r>
              <a:rPr lang="zh-TW"/>
              <a:t>遺傳演算法</a:t>
            </a:r>
            <a:r>
              <a:rPr lang="zh-TW">
                <a:solidFill>
                  <a:srgbClr val="C00000"/>
                </a:solidFill>
              </a:rPr>
              <a:t>)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161" name="Google Shape;161;g3a7e5ea652d_0_11"/>
          <p:cNvSpPr txBox="1"/>
          <p:nvPr/>
        </p:nvSpPr>
        <p:spPr>
          <a:xfrm>
            <a:off x="838200" y="2037150"/>
            <a:ext cx="5506500" cy="45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zh-TW" sz="2227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FIXED_PARAMS = {</a:t>
            </a:r>
            <a:endParaRPr b="1" sz="2227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zh-TW" sz="2227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'iterations': 1000,</a:t>
            </a:r>
            <a:endParaRPr b="1" sz="2227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zh-TW" sz="2227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'loss_function': 'Logloss',</a:t>
            </a:r>
            <a:endParaRPr b="1" sz="2227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zh-TW" sz="2227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'eval_metric': 'Accuracy',</a:t>
            </a:r>
            <a:endParaRPr b="1" sz="2227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zh-TW" sz="2227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'random_seed': 42,</a:t>
            </a:r>
            <a:endParaRPr b="1" sz="2227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zh-TW" sz="2227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'verbose': 0,</a:t>
            </a:r>
            <a:endParaRPr b="1" sz="2227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zh-TW" sz="2227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'early_stopping_rounds': 80,</a:t>
            </a:r>
            <a:endParaRPr b="1" sz="2227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zh-TW" sz="2227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'task_type': 'CPU' </a:t>
            </a:r>
            <a:endParaRPr b="1" sz="2227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zh-TW" sz="2227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}</a:t>
            </a:r>
            <a:endParaRPr b="1" sz="2227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62" name="Google Shape;162;g3a7e5ea652d_0_11"/>
          <p:cNvSpPr txBox="1"/>
          <p:nvPr/>
        </p:nvSpPr>
        <p:spPr>
          <a:xfrm>
            <a:off x="5987350" y="2037154"/>
            <a:ext cx="6565500" cy="46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GA_PARAM_SPACE = { </a:t>
            </a:r>
            <a:endParaRPr b="1" sz="2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'learning_rate': (0.01, 0.10), </a:t>
            </a:r>
            <a:endParaRPr b="1" sz="2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'l2_leaf_reg': (3.0, 15.0), </a:t>
            </a:r>
            <a:endParaRPr b="1" sz="2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'rsm': (0.6, 0.8), </a:t>
            </a:r>
            <a:endParaRPr b="1" sz="2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'subsample': (0.6, 0.8), </a:t>
            </a:r>
            <a:endParaRPr b="1" sz="2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'model_size_reg': (5.0, 10.0), 'random_strength': (0.1, 5.0), 'bagging_temperature': (0.0, 5.0), </a:t>
            </a:r>
            <a:endParaRPr b="1" sz="2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'depth': (3, 4), </a:t>
            </a:r>
            <a:endParaRPr b="1" sz="2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'border_count': (32, 128), </a:t>
            </a:r>
            <a:endParaRPr b="1" sz="2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'min_data_in_leaf': (1, 30),</a:t>
            </a:r>
            <a:endParaRPr b="1" sz="2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}</a:t>
            </a:r>
            <a:endParaRPr b="1" sz="22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63" name="Google Shape;163;g3a7e5ea652d_0_11"/>
          <p:cNvSpPr txBox="1"/>
          <p:nvPr/>
        </p:nvSpPr>
        <p:spPr>
          <a:xfrm>
            <a:off x="838200" y="1406475"/>
            <a:ext cx="19695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327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超參數空間：</a:t>
            </a:r>
            <a:endParaRPr b="1" sz="2327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9fea4c5d5_1_4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Times New Roman"/>
              <a:buNone/>
            </a:pPr>
            <a:r>
              <a:rPr lang="zh-TW"/>
              <a:t>二</a:t>
            </a:r>
            <a:r>
              <a:rPr lang="zh-TW">
                <a:solidFill>
                  <a:srgbClr val="C00000"/>
                </a:solidFill>
              </a:rPr>
              <a:t>、</a:t>
            </a:r>
            <a:r>
              <a:rPr lang="zh-TW"/>
              <a:t>預測結果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169" name="Google Shape;169;g399fea4c5d5_1_44"/>
          <p:cNvSpPr txBox="1"/>
          <p:nvPr/>
        </p:nvSpPr>
        <p:spPr>
          <a:xfrm>
            <a:off x="981325" y="1576625"/>
            <a:ext cx="9889800" cy="46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83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icrosoft JhengHei"/>
              <a:buChar char="●"/>
            </a:pPr>
            <a:r>
              <a:rPr lang="zh-TW" sz="2235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對每個時間窗預測屬於狀態 2 的機率，若一檔案所有時間窗平均機率大於特定閾值 ，則</a:t>
            </a:r>
            <a:r>
              <a:rPr b="1" lang="zh-TW" sz="2235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預測該檔案為狀態 2 (異常)</a:t>
            </a:r>
            <a:endParaRPr b="1" sz="2235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683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icrosoft JhengHei"/>
              <a:buChar char="●"/>
            </a:pPr>
            <a:r>
              <a:rPr lang="zh-TW" sz="2235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閾值由模型自動找尋</a:t>
            </a:r>
            <a:endParaRPr sz="2235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683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icrosoft JhengHei"/>
              <a:buChar char="●"/>
            </a:pPr>
            <a:r>
              <a:rPr lang="zh-TW" sz="2235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使用 Bootstrapping 選擇訓練集</a:t>
            </a:r>
            <a:endParaRPr sz="2235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683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icrosoft JhengHei"/>
              <a:buChar char="○"/>
            </a:pPr>
            <a:r>
              <a:rPr lang="zh-TW" sz="2235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訓練集：24個 </a:t>
            </a:r>
            <a:endParaRPr sz="2235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683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icrosoft JhengHei"/>
              <a:buChar char="○"/>
            </a:pPr>
            <a:r>
              <a:rPr lang="zh-TW" sz="2235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驗證集：6</a:t>
            </a:r>
            <a:r>
              <a:rPr lang="zh-TW" sz="2235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個</a:t>
            </a:r>
            <a:endParaRPr sz="2235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zh-TW" sz="2235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=&gt; 準確率約 95%</a:t>
            </a:r>
            <a:endParaRPr sz="2235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683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icrosoft JhengHei"/>
              <a:buChar char="●"/>
            </a:pPr>
            <a:r>
              <a:rPr lang="zh-TW" sz="2235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預估正式預測準確率會隨著訓練資料增加而進一步提升</a:t>
            </a:r>
            <a:endParaRPr sz="23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7b9ff5f98_0_20"/>
          <p:cNvSpPr txBox="1"/>
          <p:nvPr>
            <p:ph type="title"/>
          </p:nvPr>
        </p:nvSpPr>
        <p:spPr>
          <a:xfrm>
            <a:off x="838200" y="1270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Times New Roman"/>
              <a:buNone/>
            </a:pPr>
            <a:r>
              <a:rPr lang="zh-TW"/>
              <a:t>二</a:t>
            </a:r>
            <a:r>
              <a:rPr lang="zh-TW">
                <a:solidFill>
                  <a:srgbClr val="C00000"/>
                </a:solidFill>
              </a:rPr>
              <a:t>、</a:t>
            </a:r>
            <a:r>
              <a:rPr lang="zh-TW"/>
              <a:t>預測結果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175" name="Google Shape;175;g3a7b9ff5f98_0_20" title="messageImage_176364302224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900" y="1155896"/>
            <a:ext cx="9908201" cy="537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Times New Roman"/>
              <a:buNone/>
            </a:pPr>
            <a:r>
              <a:rPr lang="zh-TW">
                <a:solidFill>
                  <a:srgbClr val="C00000"/>
                </a:solidFill>
              </a:rPr>
              <a:t>三、執行環境/套裝選擇/執行方式 </a:t>
            </a:r>
            <a:endParaRPr/>
          </a:p>
        </p:txBody>
      </p:sp>
      <p:sp>
        <p:nvSpPr>
          <p:cNvPr id="181" name="Google Shape;181;p5"/>
          <p:cNvSpPr txBox="1"/>
          <p:nvPr>
            <p:ph idx="1" type="body"/>
          </p:nvPr>
        </p:nvSpPr>
        <p:spPr>
          <a:xfrm>
            <a:off x="958625" y="1746950"/>
            <a:ext cx="10030800" cy="42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45720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zh-TW" sz="2700"/>
              <a:t>環境</a:t>
            </a:r>
            <a:endParaRPr sz="2700"/>
          </a:p>
          <a:p>
            <a:pPr indent="45720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zh-TW" sz="2700"/>
              <a:t>Pytorch</a:t>
            </a:r>
            <a:endParaRPr b="0" sz="2700"/>
          </a:p>
          <a:p>
            <a:pPr indent="45720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zh-TW" sz="2700"/>
              <a:t>工具軟體</a:t>
            </a:r>
            <a:endParaRPr sz="2700"/>
          </a:p>
          <a:p>
            <a:pPr indent="45720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zh-TW" sz="2700"/>
              <a:t>joblib			</a:t>
            </a:r>
            <a:r>
              <a:rPr b="0" lang="zh-TW" sz="2700"/>
              <a:t>numpy			sklearn</a:t>
            </a:r>
            <a:r>
              <a:rPr b="0" lang="zh-TW" sz="2700"/>
              <a:t>			</a:t>
            </a:r>
            <a:r>
              <a:rPr b="0" lang="zh-TW" sz="2700"/>
              <a:t>lightgb</a:t>
            </a:r>
            <a:r>
              <a:rPr b="0" lang="zh-TW" sz="2700"/>
              <a:t>	</a:t>
            </a:r>
            <a:endParaRPr b="0" sz="2700"/>
          </a:p>
          <a:p>
            <a:pPr indent="45720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zh-TW" sz="2700"/>
              <a:t>matplotlib		</a:t>
            </a:r>
            <a:r>
              <a:rPr b="0" lang="zh-TW" sz="2700"/>
              <a:t>pandas 			catboost		deap</a:t>
            </a:r>
            <a:endParaRPr b="0" sz="2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 佈景主題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2018-07-31T03:49:54Z</dcterms:created>
  <dc:creator>Windows 使用者</dc:creator>
</cp:coreProperties>
</file>